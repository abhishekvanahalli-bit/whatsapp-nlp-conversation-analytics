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in one sentence: a reproducible, privacy-aware pipeline and dashboard that describes the language and activity structure of an exported WhatsApp chat. Mention that the public demonstration uses a fictional chat.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an exported chat is a raw text file mixing messages, system events, media placeholders and several scripts. Objectives: parse robustly, apply NLP (n-grams, TF-IDF), describe script usage and key terms, extract conversation-level patterns, and present everything in a privacy-conscious dashboard.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pipeline: validate, parse, preprocess and classify rows, then the four text analyses and conversation analytics with 28 reconciliation checks, then privacy filtering, the results bundle and the dashboard. Stress that the public demonstration uses a fictional chat so nothing private is exposed.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analyses. N-grams are counted per message over all messages and over unique texts, so repetition is visible. TF-IDF weights distinctiveness within the chat and was validated against scikit-learn. Script Mix describes writing systems and is NOT language identification. Key Terms rank terms by the number of distinct messages containing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numbers are from the fictional sample chat. 168 rows: 1 header, 7 system, 160 user rows. Of the user rows, 143 text, 12 media, 5 deleted; 12 participants. Activity on 13 calendar days with a peak of 15 rows on 2026-03-14. 99 of 143 text messages repeat an earlier text, leaving 44 unique texts in 35 repeated templates.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is a Streamlit and Plotly prototype. Upload a chat, it is processed in a temporary folder for the session, and four areas show the results with privacy filtering applied. The screenshot is the Overview page for the fictional sample chat.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304 tests pass in a clean clone (308 locally, including 4 tests that need a private chat and are excluded from the public repository), 28 reconciliation checks, TF-IDF agrees with scikit-learn to within about 1.1e-16, and the committed outputs are reproduced. Privacy: fictional public dataset, private chat excluded, repository scanned. Limitations are stated openly: one supported format, Script Mix is not language identification, the privacy filter is not complete PII detection, and results are not population-level.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a reproducible, tested pipeline and dashboard for exported chats, with limits stated. The fictional dataset allows safe demonstration; the numbers show pipeline behaviour and reproducibility, not general WhatsApp use. Future work comes from the report: wider export formats, larger real evaluation, better multilingual handling, stronger personal-data detection. Then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DF1F7"/>
        </a:solidFill>
        <a:effectLst/>
      </p:bgPr>
    </p:bg>
    <p:spTree>
      <p:nvGrpSpPr>
        <p:cNvPr id="1" name=""/>
        <p:cNvGrpSpPr/>
        <p:nvPr/>
      </p:nvGrpSpPr>
      <p:grpSpPr/>
      <p:sp>
        <p:nvSpPr>
          <p:cNvPr id="2" name="Rounded Rectangle 1"/>
          <p:cNvSpPr/>
          <p:nvPr/>
        </p:nvSpPr>
        <p:spPr>
          <a:xfrm>
            <a:off x="640080" y="685800"/>
            <a:ext cx="1737360" cy="310896"/>
          </a:xfrm>
          <a:prstGeom prst="roundRect">
            <a:avLst>
              <a:gd name="adj" fmla="val 50000"/>
            </a:avLst>
          </a:prstGeom>
          <a:solidFill>
            <a:srgbClr val="E1EBF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1E5AE0"/>
                </a:solidFill>
                <a:latin typeface="Calibri"/>
              </a:rPr>
              <a:t>MSc DATA SCIENCE</a:t>
            </a:r>
          </a:p>
        </p:txBody>
      </p:sp>
      <p:sp>
        <p:nvSpPr>
          <p:cNvPr id="3" name="TextBox 2"/>
          <p:cNvSpPr txBox="1"/>
          <p:nvPr/>
        </p:nvSpPr>
        <p:spPr>
          <a:xfrm>
            <a:off x="640080" y="1234440"/>
            <a:ext cx="5394960" cy="2103120"/>
          </a:xfrm>
          <a:prstGeom prst="rect">
            <a:avLst/>
          </a:prstGeom>
          <a:noFill/>
        </p:spPr>
        <p:txBody>
          <a:bodyPr wrap="square" anchor="t" lIns="0" rIns="0" tIns="0" bIns="0">
            <a:spAutoFit/>
          </a:bodyPr>
          <a:lstStyle/>
          <a:p>
            <a:pPr algn="l"/>
            <a:r>
              <a:rPr sz="4000" b="1" i="0">
                <a:solidFill>
                  <a:srgbClr val="172033"/>
                </a:solidFill>
                <a:latin typeface="Calibri"/>
              </a:rPr>
              <a:t>WhatsApp NLP &amp;</a:t>
            </a:r>
          </a:p>
          <a:p>
            <a:pPr algn="l"/>
            <a:r>
              <a:rPr sz="4000" b="1" i="0">
                <a:solidFill>
                  <a:srgbClr val="172033"/>
                </a:solidFill>
                <a:latin typeface="Calibri"/>
              </a:rPr>
              <a:t>Conversation Analytics</a:t>
            </a:r>
          </a:p>
          <a:p>
            <a:pPr algn="l"/>
            <a:r>
              <a:rPr sz="4000" b="1" i="0">
                <a:solidFill>
                  <a:srgbClr val="172033"/>
                </a:solidFill>
                <a:latin typeface="Calibri"/>
              </a:rPr>
              <a:t>Dashboard</a:t>
            </a:r>
          </a:p>
        </p:txBody>
      </p:sp>
      <p:sp>
        <p:nvSpPr>
          <p:cNvPr id="4" name="TextBox 3"/>
          <p:cNvSpPr txBox="1"/>
          <p:nvPr/>
        </p:nvSpPr>
        <p:spPr>
          <a:xfrm>
            <a:off x="640080" y="3337560"/>
            <a:ext cx="5212080" cy="822960"/>
          </a:xfrm>
          <a:prstGeom prst="rect">
            <a:avLst/>
          </a:prstGeom>
          <a:noFill/>
        </p:spPr>
        <p:txBody>
          <a:bodyPr wrap="square" anchor="t" lIns="0" rIns="0" tIns="0" bIns="0">
            <a:spAutoFit/>
          </a:bodyPr>
          <a:lstStyle/>
          <a:p>
            <a:pPr algn="l"/>
            <a:r>
              <a:rPr sz="1600" b="0" i="0">
                <a:solidFill>
                  <a:srgbClr val="525D70"/>
                </a:solidFill>
                <a:latin typeface="Calibri"/>
              </a:rPr>
              <a:t>A privacy-aware pipeline and interactive dashboard for describing the language and activity structure of exported WhatsApp chats</a:t>
            </a:r>
          </a:p>
        </p:txBody>
      </p:sp>
      <p:sp>
        <p:nvSpPr>
          <p:cNvPr id="5" name="Rounded Rectangle 4"/>
          <p:cNvSpPr/>
          <p:nvPr/>
        </p:nvSpPr>
        <p:spPr>
          <a:xfrm>
            <a:off x="640080" y="4434840"/>
            <a:ext cx="5212080" cy="160020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590288"/>
            <a:ext cx="4846320" cy="1371600"/>
          </a:xfrm>
          <a:prstGeom prst="rect">
            <a:avLst/>
          </a:prstGeom>
          <a:noFill/>
        </p:spPr>
        <p:txBody>
          <a:bodyPr wrap="square" anchor="t" lIns="0" rIns="0" tIns="0" bIns="0">
            <a:spAutoFit/>
          </a:bodyPr>
          <a:lstStyle/>
          <a:p>
            <a:pPr algn="l">
              <a:spcAft>
                <a:spcPts val="300"/>
              </a:spcAft>
            </a:pPr>
            <a:r>
              <a:rPr sz="1800" b="1" i="0">
                <a:solidFill>
                  <a:srgbClr val="172033"/>
                </a:solidFill>
                <a:latin typeface="Calibri"/>
              </a:rPr>
              <a:t>Abhishek Vanahalli</a:t>
            </a:r>
          </a:p>
          <a:p>
            <a:pPr algn="l">
              <a:spcAft>
                <a:spcPts val="300"/>
              </a:spcAft>
            </a:pPr>
            <a:r>
              <a:rPr sz="1500" b="0" i="0">
                <a:solidFill>
                  <a:srgbClr val="172033"/>
                </a:solidFill>
                <a:latin typeface="Calibri"/>
              </a:rPr>
              <a:t>CHRIST (Deemed to be University)</a:t>
            </a:r>
          </a:p>
          <a:p>
            <a:pPr algn="l">
              <a:spcAft>
                <a:spcPts val="300"/>
              </a:spcAft>
            </a:pPr>
            <a:r>
              <a:rPr sz="1400" b="0" i="0">
                <a:solidFill>
                  <a:srgbClr val="525D70"/>
                </a:solidFill>
                <a:latin typeface="Calibri"/>
              </a:rPr>
              <a:t>Supervisor: Himani Sivaraman, Faculty, CHRIST (Deemed to be University)</a:t>
            </a:r>
          </a:p>
          <a:p>
            <a:pPr algn="l">
              <a:spcAft>
                <a:spcPts val="300"/>
              </a:spcAft>
            </a:pPr>
            <a:r>
              <a:rPr sz="1400" b="0" i="0">
                <a:solidFill>
                  <a:srgbClr val="525D70"/>
                </a:solidFill>
                <a:latin typeface="Calibri"/>
              </a:rPr>
              <a:t>10/10/2026</a:t>
            </a:r>
          </a:p>
        </p:txBody>
      </p:sp>
      <p:sp>
        <p:nvSpPr>
          <p:cNvPr id="7" name="Rounded Rectangle 6"/>
          <p:cNvSpPr/>
          <p:nvPr/>
        </p:nvSpPr>
        <p:spPr>
          <a:xfrm>
            <a:off x="6263640" y="1691639"/>
            <a:ext cx="5577840" cy="2899092"/>
          </a:xfrm>
          <a:prstGeom prst="roundRect">
            <a:avLst>
              <a:gd name="adj" fmla="val 25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overview_top.png"/>
          <p:cNvPicPr>
            <a:picLocks noChangeAspect="1"/>
          </p:cNvPicPr>
          <p:nvPr/>
        </p:nvPicPr>
        <p:blipFill>
          <a:blip r:embed="rId3"/>
          <a:stretch>
            <a:fillRect/>
          </a:stretch>
        </p:blipFill>
        <p:spPr>
          <a:xfrm>
            <a:off x="6355080" y="1783080"/>
            <a:ext cx="5394960" cy="2716212"/>
          </a:xfrm>
          <a:prstGeom prst="rect">
            <a:avLst/>
          </a:prstGeom>
        </p:spPr>
      </p:pic>
      <p:sp>
        <p:nvSpPr>
          <p:cNvPr id="9" name="TextBox 8"/>
          <p:cNvSpPr txBox="1"/>
          <p:nvPr/>
        </p:nvSpPr>
        <p:spPr>
          <a:xfrm>
            <a:off x="6355080" y="4754880"/>
            <a:ext cx="5394960" cy="274320"/>
          </a:xfrm>
          <a:prstGeom prst="rect">
            <a:avLst/>
          </a:prstGeom>
          <a:noFill/>
        </p:spPr>
        <p:txBody>
          <a:bodyPr wrap="square" anchor="t" lIns="0" rIns="0" tIns="0" bIns="0">
            <a:spAutoFit/>
          </a:bodyPr>
          <a:lstStyle/>
          <a:p>
            <a:pPr algn="l"/>
            <a:r>
              <a:rPr sz="1200" b="0" i="1">
                <a:solidFill>
                  <a:srgbClr val="525D70"/>
                </a:solidFill>
                <a:latin typeface="Calibri"/>
              </a:rPr>
              <a:t>Overview page, fictional sample chat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DF1F7"/>
        </a:solidFill>
        <a:effectLst/>
      </p:bgPr>
    </p:bg>
    <p:spTree>
      <p:nvGrpSpPr>
        <p:cNvPr id="1" name=""/>
        <p:cNvGrpSpPr/>
        <p:nvPr/>
      </p:nvGrpSpPr>
      <p:grpSpPr/>
      <p:sp>
        <p:nvSpPr>
          <p:cNvPr id="2" name="TextBox 1"/>
          <p:cNvSpPr txBox="1"/>
          <p:nvPr/>
        </p:nvSpPr>
        <p:spPr>
          <a:xfrm>
            <a:off x="548640" y="384048"/>
            <a:ext cx="9601200" cy="640080"/>
          </a:xfrm>
          <a:prstGeom prst="rect">
            <a:avLst/>
          </a:prstGeom>
          <a:noFill/>
        </p:spPr>
        <p:txBody>
          <a:bodyPr wrap="square" anchor="t" lIns="0" rIns="0" tIns="0" bIns="0">
            <a:spAutoFit/>
          </a:bodyPr>
          <a:lstStyle/>
          <a:p>
            <a:pPr algn="l"/>
            <a:r>
              <a:rPr sz="3600" b="1" i="0">
                <a:solidFill>
                  <a:srgbClr val="172033"/>
                </a:solidFill>
                <a:latin typeface="Calibri"/>
              </a:rPr>
              <a:t>Problem &amp; Objectives</a:t>
            </a:r>
          </a:p>
        </p:txBody>
      </p:sp>
      <p:sp>
        <p:nvSpPr>
          <p:cNvPr id="3" name="TextBox 2"/>
          <p:cNvSpPr txBox="1"/>
          <p:nvPr/>
        </p:nvSpPr>
        <p:spPr>
          <a:xfrm>
            <a:off x="548640" y="987552"/>
            <a:ext cx="10515600" cy="365760"/>
          </a:xfrm>
          <a:prstGeom prst="rect">
            <a:avLst/>
          </a:prstGeom>
          <a:noFill/>
        </p:spPr>
        <p:txBody>
          <a:bodyPr wrap="square" anchor="t" lIns="0" rIns="0" tIns="0" bIns="0">
            <a:spAutoFit/>
          </a:bodyPr>
          <a:lstStyle/>
          <a:p>
            <a:pPr algn="l"/>
            <a:r>
              <a:rPr sz="1600" b="0" i="0">
                <a:solidFill>
                  <a:srgbClr val="525D70"/>
                </a:solidFill>
                <a:latin typeface="Calibri"/>
              </a:rPr>
              <a:t>Why a raw chat export needs a careful, explainable analysis pipeline</a:t>
            </a:r>
          </a:p>
        </p:txBody>
      </p:sp>
      <p:sp>
        <p:nvSpPr>
          <p:cNvPr id="4" name="Rounded Rectangle 3"/>
          <p:cNvSpPr/>
          <p:nvPr/>
        </p:nvSpPr>
        <p:spPr>
          <a:xfrm>
            <a:off x="548640" y="1600200"/>
            <a:ext cx="5029200" cy="452628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4480560" cy="365760"/>
          </a:xfrm>
          <a:prstGeom prst="rect">
            <a:avLst/>
          </a:prstGeom>
          <a:noFill/>
        </p:spPr>
        <p:txBody>
          <a:bodyPr wrap="square" anchor="t" lIns="0" rIns="0" tIns="0" bIns="0">
            <a:spAutoFit/>
          </a:bodyPr>
          <a:lstStyle/>
          <a:p>
            <a:pPr algn="l"/>
            <a:r>
              <a:rPr sz="1300" b="1" i="0">
                <a:solidFill>
                  <a:srgbClr val="1E5AE0"/>
                </a:solidFill>
                <a:latin typeface="Calibri"/>
              </a:rPr>
              <a:t>PROBLEM</a:t>
            </a:r>
          </a:p>
        </p:txBody>
      </p:sp>
      <p:sp>
        <p:nvSpPr>
          <p:cNvPr id="6" name="TextBox 5"/>
          <p:cNvSpPr txBox="1"/>
          <p:nvPr/>
        </p:nvSpPr>
        <p:spPr>
          <a:xfrm>
            <a:off x="822960" y="2148840"/>
            <a:ext cx="4480560" cy="822960"/>
          </a:xfrm>
          <a:prstGeom prst="rect">
            <a:avLst/>
          </a:prstGeom>
          <a:noFill/>
        </p:spPr>
        <p:txBody>
          <a:bodyPr wrap="square" anchor="t" lIns="0" rIns="0" tIns="0" bIns="0">
            <a:spAutoFit/>
          </a:bodyPr>
          <a:lstStyle/>
          <a:p>
            <a:pPr algn="l"/>
            <a:r>
              <a:rPr sz="1700" b="1" i="0">
                <a:solidFill>
                  <a:srgbClr val="172033"/>
                </a:solidFill>
                <a:latin typeface="Calibri"/>
              </a:rPr>
              <a:t>An exported WhatsApp chat is a raw text file. It is hard to see directly:</a:t>
            </a:r>
          </a:p>
        </p:txBody>
      </p:sp>
      <p:sp>
        <p:nvSpPr>
          <p:cNvPr id="7" name="Oval 6"/>
          <p:cNvSpPr/>
          <p:nvPr/>
        </p:nvSpPr>
        <p:spPr>
          <a:xfrm>
            <a:off x="868680" y="3127248"/>
            <a:ext cx="146304" cy="146304"/>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063240"/>
            <a:ext cx="4114800" cy="365760"/>
          </a:xfrm>
          <a:prstGeom prst="rect">
            <a:avLst/>
          </a:prstGeom>
          <a:noFill/>
        </p:spPr>
        <p:txBody>
          <a:bodyPr wrap="square" anchor="t" lIns="0" rIns="0" tIns="0" bIns="0">
            <a:spAutoFit/>
          </a:bodyPr>
          <a:lstStyle/>
          <a:p>
            <a:pPr algn="l"/>
            <a:r>
              <a:rPr sz="1700" b="0" i="0">
                <a:solidFill>
                  <a:srgbClr val="172033"/>
                </a:solidFill>
                <a:latin typeface="Calibri"/>
              </a:rPr>
              <a:t>Message patterns</a:t>
            </a:r>
          </a:p>
        </p:txBody>
      </p:sp>
      <p:sp>
        <p:nvSpPr>
          <p:cNvPr id="9" name="Oval 8"/>
          <p:cNvSpPr/>
          <p:nvPr/>
        </p:nvSpPr>
        <p:spPr>
          <a:xfrm>
            <a:off x="868680" y="3602736"/>
            <a:ext cx="146304" cy="146304"/>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538728"/>
            <a:ext cx="4114800" cy="365760"/>
          </a:xfrm>
          <a:prstGeom prst="rect">
            <a:avLst/>
          </a:prstGeom>
          <a:noFill/>
        </p:spPr>
        <p:txBody>
          <a:bodyPr wrap="square" anchor="t" lIns="0" rIns="0" tIns="0" bIns="0">
            <a:spAutoFit/>
          </a:bodyPr>
          <a:lstStyle/>
          <a:p>
            <a:pPr algn="l"/>
            <a:r>
              <a:rPr sz="1700" b="0" i="0">
                <a:solidFill>
                  <a:srgbClr val="172033"/>
                </a:solidFill>
                <a:latin typeface="Calibri"/>
              </a:rPr>
              <a:t>Frequently used terms</a:t>
            </a:r>
          </a:p>
        </p:txBody>
      </p:sp>
      <p:sp>
        <p:nvSpPr>
          <p:cNvPr id="11" name="Oval 10"/>
          <p:cNvSpPr/>
          <p:nvPr/>
        </p:nvSpPr>
        <p:spPr>
          <a:xfrm>
            <a:off x="868680" y="4078224"/>
            <a:ext cx="146304" cy="146304"/>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014216"/>
            <a:ext cx="4114800" cy="365760"/>
          </a:xfrm>
          <a:prstGeom prst="rect">
            <a:avLst/>
          </a:prstGeom>
          <a:noFill/>
        </p:spPr>
        <p:txBody>
          <a:bodyPr wrap="square" anchor="t" lIns="0" rIns="0" tIns="0" bIns="0">
            <a:spAutoFit/>
          </a:bodyPr>
          <a:lstStyle/>
          <a:p>
            <a:pPr algn="l"/>
            <a:r>
              <a:rPr sz="1700" b="0" i="0">
                <a:solidFill>
                  <a:srgbClr val="172033"/>
                </a:solidFill>
                <a:latin typeface="Calibri"/>
              </a:rPr>
              <a:t>Activity over time</a:t>
            </a:r>
          </a:p>
        </p:txBody>
      </p:sp>
      <p:sp>
        <p:nvSpPr>
          <p:cNvPr id="13" name="Oval 12"/>
          <p:cNvSpPr/>
          <p:nvPr/>
        </p:nvSpPr>
        <p:spPr>
          <a:xfrm>
            <a:off x="868680" y="4553712"/>
            <a:ext cx="146304" cy="146304"/>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489704"/>
            <a:ext cx="4114800" cy="365760"/>
          </a:xfrm>
          <a:prstGeom prst="rect">
            <a:avLst/>
          </a:prstGeom>
          <a:noFill/>
        </p:spPr>
        <p:txBody>
          <a:bodyPr wrap="square" anchor="t" lIns="0" rIns="0" tIns="0" bIns="0">
            <a:spAutoFit/>
          </a:bodyPr>
          <a:lstStyle/>
          <a:p>
            <a:pPr algn="l"/>
            <a:r>
              <a:rPr sz="1700" b="0" i="0">
                <a:solidFill>
                  <a:srgbClr val="172033"/>
                </a:solidFill>
                <a:latin typeface="Calibri"/>
              </a:rPr>
              <a:t>Repeated content</a:t>
            </a:r>
          </a:p>
        </p:txBody>
      </p:sp>
      <p:sp>
        <p:nvSpPr>
          <p:cNvPr id="15" name="Oval 14"/>
          <p:cNvSpPr/>
          <p:nvPr/>
        </p:nvSpPr>
        <p:spPr>
          <a:xfrm>
            <a:off x="868680" y="5029200"/>
            <a:ext cx="146304" cy="146304"/>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4965192"/>
            <a:ext cx="4114800" cy="365760"/>
          </a:xfrm>
          <a:prstGeom prst="rect">
            <a:avLst/>
          </a:prstGeom>
          <a:noFill/>
        </p:spPr>
        <p:txBody>
          <a:bodyPr wrap="square" anchor="t" lIns="0" rIns="0" tIns="0" bIns="0">
            <a:spAutoFit/>
          </a:bodyPr>
          <a:lstStyle/>
          <a:p>
            <a:pPr algn="l"/>
            <a:r>
              <a:rPr sz="1700" b="0" i="0">
                <a:solidFill>
                  <a:srgbClr val="172033"/>
                </a:solidFill>
                <a:latin typeface="Calibri"/>
              </a:rPr>
              <a:t>Writing-system usage</a:t>
            </a:r>
          </a:p>
        </p:txBody>
      </p:sp>
      <p:sp>
        <p:nvSpPr>
          <p:cNvPr id="17" name="Oval 16"/>
          <p:cNvSpPr/>
          <p:nvPr/>
        </p:nvSpPr>
        <p:spPr>
          <a:xfrm>
            <a:off x="868680" y="5504688"/>
            <a:ext cx="146304" cy="146304"/>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5440680"/>
            <a:ext cx="4114800" cy="365760"/>
          </a:xfrm>
          <a:prstGeom prst="rect">
            <a:avLst/>
          </a:prstGeom>
          <a:noFill/>
        </p:spPr>
        <p:txBody>
          <a:bodyPr wrap="square" anchor="t" lIns="0" rIns="0" tIns="0" bIns="0">
            <a:spAutoFit/>
          </a:bodyPr>
          <a:lstStyle/>
          <a:p>
            <a:pPr algn="l"/>
            <a:r>
              <a:rPr sz="1700" b="0" i="0">
                <a:solidFill>
                  <a:srgbClr val="172033"/>
                </a:solidFill>
                <a:latin typeface="Calibri"/>
              </a:rPr>
              <a:t>Conversation composition</a:t>
            </a:r>
          </a:p>
        </p:txBody>
      </p:sp>
      <p:sp>
        <p:nvSpPr>
          <p:cNvPr id="19" name="Rounded Rectangle 18"/>
          <p:cNvSpPr/>
          <p:nvPr/>
        </p:nvSpPr>
        <p:spPr>
          <a:xfrm>
            <a:off x="5852160" y="1600200"/>
            <a:ext cx="5788152" cy="452628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1783080"/>
            <a:ext cx="5120640" cy="365760"/>
          </a:xfrm>
          <a:prstGeom prst="rect">
            <a:avLst/>
          </a:prstGeom>
          <a:noFill/>
        </p:spPr>
        <p:txBody>
          <a:bodyPr wrap="square" anchor="t" lIns="0" rIns="0" tIns="0" bIns="0">
            <a:spAutoFit/>
          </a:bodyPr>
          <a:lstStyle/>
          <a:p>
            <a:pPr algn="l"/>
            <a:r>
              <a:rPr sz="1300" b="1" i="0">
                <a:solidFill>
                  <a:srgbClr val="1E5AE0"/>
                </a:solidFill>
                <a:latin typeface="Calibri"/>
              </a:rPr>
              <a:t>OBJECTIVES</a:t>
            </a:r>
          </a:p>
        </p:txBody>
      </p:sp>
      <p:sp>
        <p:nvSpPr>
          <p:cNvPr id="21" name="Oval 20"/>
          <p:cNvSpPr/>
          <p:nvPr/>
        </p:nvSpPr>
        <p:spPr>
          <a:xfrm>
            <a:off x="6126480" y="2286000"/>
            <a:ext cx="384048" cy="384048"/>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22" name="TextBox 21"/>
          <p:cNvSpPr txBox="1"/>
          <p:nvPr/>
        </p:nvSpPr>
        <p:spPr>
          <a:xfrm>
            <a:off x="6675120" y="2249424"/>
            <a:ext cx="4754880" cy="640080"/>
          </a:xfrm>
          <a:prstGeom prst="rect">
            <a:avLst/>
          </a:prstGeom>
          <a:noFill/>
        </p:spPr>
        <p:txBody>
          <a:bodyPr wrap="square" anchor="ctr" lIns="0" rIns="0" tIns="0" bIns="0">
            <a:spAutoFit/>
          </a:bodyPr>
          <a:lstStyle/>
          <a:p>
            <a:pPr algn="l"/>
            <a:r>
              <a:rPr sz="1700" b="0" i="0">
                <a:solidFill>
                  <a:srgbClr val="172033"/>
                </a:solidFill>
                <a:latin typeface="Calibri"/>
              </a:rPr>
              <a:t>Build a robust WhatsApp parser and preprocessing pipeline</a:t>
            </a:r>
          </a:p>
        </p:txBody>
      </p:sp>
      <p:sp>
        <p:nvSpPr>
          <p:cNvPr id="23" name="Oval 22"/>
          <p:cNvSpPr/>
          <p:nvPr/>
        </p:nvSpPr>
        <p:spPr>
          <a:xfrm>
            <a:off x="6126480" y="3054096"/>
            <a:ext cx="384048" cy="384048"/>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24" name="TextBox 23"/>
          <p:cNvSpPr txBox="1"/>
          <p:nvPr/>
        </p:nvSpPr>
        <p:spPr>
          <a:xfrm>
            <a:off x="6675120" y="3017520"/>
            <a:ext cx="4754880" cy="640080"/>
          </a:xfrm>
          <a:prstGeom prst="rect">
            <a:avLst/>
          </a:prstGeom>
          <a:noFill/>
        </p:spPr>
        <p:txBody>
          <a:bodyPr wrap="square" anchor="ctr" lIns="0" rIns="0" tIns="0" bIns="0">
            <a:spAutoFit/>
          </a:bodyPr>
          <a:lstStyle/>
          <a:p>
            <a:pPr algn="l"/>
            <a:r>
              <a:rPr sz="1700" b="0" i="0">
                <a:solidFill>
                  <a:srgbClr val="172033"/>
                </a:solidFill>
                <a:latin typeface="Calibri"/>
              </a:rPr>
              <a:t>Apply NLP techniques: n-grams and TF-IDF</a:t>
            </a:r>
          </a:p>
        </p:txBody>
      </p:sp>
      <p:sp>
        <p:nvSpPr>
          <p:cNvPr id="25" name="Oval 24"/>
          <p:cNvSpPr/>
          <p:nvPr/>
        </p:nvSpPr>
        <p:spPr>
          <a:xfrm>
            <a:off x="6126480" y="3822191"/>
            <a:ext cx="384048" cy="384048"/>
          </a:xfrm>
          <a:prstGeom prst="ellipse">
            <a:avLst/>
          </a:prstGeom>
          <a:solidFill>
            <a:srgbClr val="6240C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26" name="TextBox 25"/>
          <p:cNvSpPr txBox="1"/>
          <p:nvPr/>
        </p:nvSpPr>
        <p:spPr>
          <a:xfrm>
            <a:off x="6675120" y="3785615"/>
            <a:ext cx="4754880" cy="640080"/>
          </a:xfrm>
          <a:prstGeom prst="rect">
            <a:avLst/>
          </a:prstGeom>
          <a:noFill/>
        </p:spPr>
        <p:txBody>
          <a:bodyPr wrap="square" anchor="ctr" lIns="0" rIns="0" tIns="0" bIns="0">
            <a:spAutoFit/>
          </a:bodyPr>
          <a:lstStyle/>
          <a:p>
            <a:pPr algn="l"/>
            <a:r>
              <a:rPr sz="1700" b="0" i="0">
                <a:solidFill>
                  <a:srgbClr val="172033"/>
                </a:solidFill>
                <a:latin typeface="Calibri"/>
              </a:rPr>
              <a:t>Analyse Script Mix and key conversational terms</a:t>
            </a:r>
          </a:p>
        </p:txBody>
      </p:sp>
      <p:sp>
        <p:nvSpPr>
          <p:cNvPr id="27" name="Oval 26"/>
          <p:cNvSpPr/>
          <p:nvPr/>
        </p:nvSpPr>
        <p:spPr>
          <a:xfrm>
            <a:off x="6126480" y="4590288"/>
            <a:ext cx="384048" cy="384048"/>
          </a:xfrm>
          <a:prstGeom prst="ellipse">
            <a:avLst/>
          </a:prstGeom>
          <a:solidFill>
            <a:srgbClr val="BF541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8" name="TextBox 27"/>
          <p:cNvSpPr txBox="1"/>
          <p:nvPr/>
        </p:nvSpPr>
        <p:spPr>
          <a:xfrm>
            <a:off x="6675120" y="4553712"/>
            <a:ext cx="4754880" cy="640080"/>
          </a:xfrm>
          <a:prstGeom prst="rect">
            <a:avLst/>
          </a:prstGeom>
          <a:noFill/>
        </p:spPr>
        <p:txBody>
          <a:bodyPr wrap="square" anchor="ctr" lIns="0" rIns="0" tIns="0" bIns="0">
            <a:spAutoFit/>
          </a:bodyPr>
          <a:lstStyle/>
          <a:p>
            <a:pPr algn="l"/>
            <a:r>
              <a:rPr sz="1700" b="0" i="0">
                <a:solidFill>
                  <a:srgbClr val="172033"/>
                </a:solidFill>
                <a:latin typeface="Calibri"/>
              </a:rPr>
              <a:t>Extract activity and repetition patterns</a:t>
            </a:r>
          </a:p>
        </p:txBody>
      </p:sp>
      <p:sp>
        <p:nvSpPr>
          <p:cNvPr id="29" name="Oval 28"/>
          <p:cNvSpPr/>
          <p:nvPr/>
        </p:nvSpPr>
        <p:spPr>
          <a:xfrm>
            <a:off x="6126480" y="5358383"/>
            <a:ext cx="384048" cy="384048"/>
          </a:xfrm>
          <a:prstGeom prst="ellipse">
            <a:avLst/>
          </a:prstGeom>
          <a:solidFill>
            <a:srgbClr val="1D7A3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30" name="TextBox 29"/>
          <p:cNvSpPr txBox="1"/>
          <p:nvPr/>
        </p:nvSpPr>
        <p:spPr>
          <a:xfrm>
            <a:off x="6675120" y="5321807"/>
            <a:ext cx="4754880" cy="640080"/>
          </a:xfrm>
          <a:prstGeom prst="rect">
            <a:avLst/>
          </a:prstGeom>
          <a:noFill/>
        </p:spPr>
        <p:txBody>
          <a:bodyPr wrap="square" anchor="ctr" lIns="0" rIns="0" tIns="0" bIns="0">
            <a:spAutoFit/>
          </a:bodyPr>
          <a:lstStyle/>
          <a:p>
            <a:pPr algn="l"/>
            <a:r>
              <a:rPr sz="1700" b="0" i="0">
                <a:solidFill>
                  <a:srgbClr val="172033"/>
                </a:solidFill>
                <a:latin typeface="Calibri"/>
              </a:rPr>
              <a:t>Present results in a privacy-conscious interactive dashboard</a:t>
            </a:r>
          </a:p>
        </p:txBody>
      </p:sp>
      <p:sp>
        <p:nvSpPr>
          <p:cNvPr id="31" name="TextBox 30"/>
          <p:cNvSpPr txBox="1"/>
          <p:nvPr/>
        </p:nvSpPr>
        <p:spPr>
          <a:xfrm>
            <a:off x="548640" y="6446520"/>
            <a:ext cx="8229600" cy="228600"/>
          </a:xfrm>
          <a:prstGeom prst="rect">
            <a:avLst/>
          </a:prstGeom>
          <a:noFill/>
        </p:spPr>
        <p:txBody>
          <a:bodyPr wrap="square" anchor="t" lIns="0" rIns="0" tIns="0" bIns="0">
            <a:spAutoFit/>
          </a:bodyPr>
          <a:lstStyle/>
          <a:p>
            <a:pPr algn="l"/>
            <a:r>
              <a:rPr sz="1100" b="0" i="0">
                <a:solidFill>
                  <a:srgbClr val="525D70"/>
                </a:solidFill>
                <a:latin typeface="Calibri"/>
              </a:rPr>
              <a:t>WhatsApp NLP &amp; Conversation Analytics Dashboard  |  MSc Data Science  |  Abhishek Vanahalli</a:t>
            </a:r>
          </a:p>
        </p:txBody>
      </p:sp>
      <p:sp>
        <p:nvSpPr>
          <p:cNvPr id="32" name="TextBox 31"/>
          <p:cNvSpPr txBox="1"/>
          <p:nvPr/>
        </p:nvSpPr>
        <p:spPr>
          <a:xfrm>
            <a:off x="10972800" y="6446520"/>
            <a:ext cx="685800" cy="228600"/>
          </a:xfrm>
          <a:prstGeom prst="rect">
            <a:avLst/>
          </a:prstGeom>
          <a:noFill/>
        </p:spPr>
        <p:txBody>
          <a:bodyPr wrap="square" anchor="t" lIns="0" rIns="0" tIns="0" bIns="0">
            <a:spAutoFit/>
          </a:bodyPr>
          <a:lstStyle/>
          <a:p>
            <a:pPr algn="r"/>
            <a:r>
              <a:rPr sz="1100" b="0" i="0">
                <a:solidFill>
                  <a:srgbClr val="525D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DF1F7"/>
        </a:solidFill>
        <a:effectLst/>
      </p:bgPr>
    </p:bg>
    <p:spTree>
      <p:nvGrpSpPr>
        <p:cNvPr id="1" name=""/>
        <p:cNvGrpSpPr/>
        <p:nvPr/>
      </p:nvGrpSpPr>
      <p:grpSpPr/>
      <p:sp>
        <p:nvSpPr>
          <p:cNvPr id="2" name="TextBox 1"/>
          <p:cNvSpPr txBox="1"/>
          <p:nvPr/>
        </p:nvSpPr>
        <p:spPr>
          <a:xfrm>
            <a:off x="548640" y="384048"/>
            <a:ext cx="9601200" cy="640080"/>
          </a:xfrm>
          <a:prstGeom prst="rect">
            <a:avLst/>
          </a:prstGeom>
          <a:noFill/>
        </p:spPr>
        <p:txBody>
          <a:bodyPr wrap="square" anchor="t" lIns="0" rIns="0" tIns="0" bIns="0">
            <a:spAutoFit/>
          </a:bodyPr>
          <a:lstStyle/>
          <a:p>
            <a:pPr algn="l"/>
            <a:r>
              <a:rPr sz="3600" b="1" i="0">
                <a:solidFill>
                  <a:srgbClr val="172033"/>
                </a:solidFill>
                <a:latin typeface="Calibri"/>
              </a:rPr>
              <a:t>Data &amp; Methodology</a:t>
            </a:r>
          </a:p>
        </p:txBody>
      </p:sp>
      <p:sp>
        <p:nvSpPr>
          <p:cNvPr id="3" name="TextBox 2"/>
          <p:cNvSpPr txBox="1"/>
          <p:nvPr/>
        </p:nvSpPr>
        <p:spPr>
          <a:xfrm>
            <a:off x="548640" y="987552"/>
            <a:ext cx="10515600" cy="365760"/>
          </a:xfrm>
          <a:prstGeom prst="rect">
            <a:avLst/>
          </a:prstGeom>
          <a:noFill/>
        </p:spPr>
        <p:txBody>
          <a:bodyPr wrap="square" anchor="t" lIns="0" rIns="0" tIns="0" bIns="0">
            <a:spAutoFit/>
          </a:bodyPr>
          <a:lstStyle/>
          <a:p>
            <a:pPr algn="l"/>
            <a:r>
              <a:rPr sz="1600" b="0" i="0">
                <a:solidFill>
                  <a:srgbClr val="525D70"/>
                </a:solidFill>
                <a:latin typeface="Calibri"/>
              </a:rPr>
              <a:t>One supported export format, one reproducible pipeline</a:t>
            </a:r>
          </a:p>
        </p:txBody>
      </p:sp>
      <p:sp>
        <p:nvSpPr>
          <p:cNvPr id="4" name="Rounded Rectangle 3"/>
          <p:cNvSpPr/>
          <p:nvPr/>
        </p:nvSpPr>
        <p:spPr>
          <a:xfrm>
            <a:off x="548640" y="1508760"/>
            <a:ext cx="4206240" cy="480060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ure2_pipeline.png"/>
          <p:cNvPicPr>
            <a:picLocks noChangeAspect="1"/>
          </p:cNvPicPr>
          <p:nvPr/>
        </p:nvPicPr>
        <p:blipFill>
          <a:blip r:embed="rId3"/>
          <a:stretch>
            <a:fillRect/>
          </a:stretch>
        </p:blipFill>
        <p:spPr>
          <a:xfrm>
            <a:off x="850975" y="1600200"/>
            <a:ext cx="3463047" cy="4572000"/>
          </a:xfrm>
          <a:prstGeom prst="rect">
            <a:avLst/>
          </a:prstGeom>
        </p:spPr>
      </p:pic>
      <p:sp>
        <p:nvSpPr>
          <p:cNvPr id="6" name="TextBox 5"/>
          <p:cNvSpPr txBox="1"/>
          <p:nvPr/>
        </p:nvSpPr>
        <p:spPr>
          <a:xfrm>
            <a:off x="5074920" y="1600200"/>
            <a:ext cx="6583680" cy="274320"/>
          </a:xfrm>
          <a:prstGeom prst="rect">
            <a:avLst/>
          </a:prstGeom>
          <a:noFill/>
        </p:spPr>
        <p:txBody>
          <a:bodyPr wrap="square" anchor="t" lIns="0" rIns="0" tIns="0" bIns="0">
            <a:spAutoFit/>
          </a:bodyPr>
          <a:lstStyle/>
          <a:p>
            <a:pPr algn="l"/>
            <a:r>
              <a:rPr sz="1300" b="1" i="0">
                <a:solidFill>
                  <a:srgbClr val="1E5AE0"/>
                </a:solidFill>
                <a:latin typeface="Calibri"/>
              </a:rPr>
              <a:t>WHAT HAPPENS TO AN UPLOADED CHAT</a:t>
            </a:r>
          </a:p>
        </p:txBody>
      </p:sp>
      <p:sp>
        <p:nvSpPr>
          <p:cNvPr id="7" name="Rounded Rectangle 6"/>
          <p:cNvSpPr/>
          <p:nvPr/>
        </p:nvSpPr>
        <p:spPr>
          <a:xfrm>
            <a:off x="5074920" y="2011680"/>
            <a:ext cx="6565392" cy="786384"/>
          </a:xfrm>
          <a:prstGeom prst="roundRect">
            <a:avLst>
              <a:gd name="adj" fmla="val 12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257800" y="2212848"/>
            <a:ext cx="384048" cy="384048"/>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9" name="TextBox 8"/>
          <p:cNvSpPr txBox="1"/>
          <p:nvPr/>
        </p:nvSpPr>
        <p:spPr>
          <a:xfrm>
            <a:off x="5852160" y="2093976"/>
            <a:ext cx="5577840" cy="274320"/>
          </a:xfrm>
          <a:prstGeom prst="rect">
            <a:avLst/>
          </a:prstGeom>
          <a:noFill/>
        </p:spPr>
        <p:txBody>
          <a:bodyPr wrap="square" anchor="t" lIns="0" rIns="0" tIns="0" bIns="0">
            <a:spAutoFit/>
          </a:bodyPr>
          <a:lstStyle/>
          <a:p>
            <a:pPr algn="l"/>
            <a:r>
              <a:rPr sz="1600" b="1" i="0">
                <a:solidFill>
                  <a:srgbClr val="172033"/>
                </a:solidFill>
                <a:latin typeface="Calibri"/>
              </a:rPr>
              <a:t>Validate and parse</a:t>
            </a:r>
          </a:p>
        </p:txBody>
      </p:sp>
      <p:sp>
        <p:nvSpPr>
          <p:cNvPr id="10" name="TextBox 9"/>
          <p:cNvSpPr txBox="1"/>
          <p:nvPr/>
        </p:nvSpPr>
        <p:spPr>
          <a:xfrm>
            <a:off x="5852160" y="2377440"/>
            <a:ext cx="5623560" cy="365760"/>
          </a:xfrm>
          <a:prstGeom prst="rect">
            <a:avLst/>
          </a:prstGeom>
          <a:noFill/>
        </p:spPr>
        <p:txBody>
          <a:bodyPr wrap="square" anchor="t" lIns="0" rIns="0" tIns="0" bIns="0">
            <a:spAutoFit/>
          </a:bodyPr>
          <a:lstStyle/>
          <a:p>
            <a:pPr algn="l"/>
            <a:r>
              <a:rPr sz="1300" b="0" i="0">
                <a:solidFill>
                  <a:srgbClr val="525D70"/>
                </a:solidFill>
                <a:latin typeface="Calibri"/>
              </a:rPr>
              <a:t>Bracketed .txt export; header, system and user rows; multi-line messages kept together</a:t>
            </a:r>
          </a:p>
        </p:txBody>
      </p:sp>
      <p:sp>
        <p:nvSpPr>
          <p:cNvPr id="11" name="Rounded Rectangle 10"/>
          <p:cNvSpPr/>
          <p:nvPr/>
        </p:nvSpPr>
        <p:spPr>
          <a:xfrm>
            <a:off x="5074920" y="2907792"/>
            <a:ext cx="6565392" cy="786384"/>
          </a:xfrm>
          <a:prstGeom prst="roundRect">
            <a:avLst>
              <a:gd name="adj" fmla="val 12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257800" y="3108960"/>
            <a:ext cx="384048" cy="384048"/>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3" name="TextBox 12"/>
          <p:cNvSpPr txBox="1"/>
          <p:nvPr/>
        </p:nvSpPr>
        <p:spPr>
          <a:xfrm>
            <a:off x="5852160" y="2990088"/>
            <a:ext cx="5577840" cy="274320"/>
          </a:xfrm>
          <a:prstGeom prst="rect">
            <a:avLst/>
          </a:prstGeom>
          <a:noFill/>
        </p:spPr>
        <p:txBody>
          <a:bodyPr wrap="square" anchor="t" lIns="0" rIns="0" tIns="0" bIns="0">
            <a:spAutoFit/>
          </a:bodyPr>
          <a:lstStyle/>
          <a:p>
            <a:pPr algn="l"/>
            <a:r>
              <a:rPr sz="1600" b="1" i="0">
                <a:solidFill>
                  <a:srgbClr val="172033"/>
                </a:solidFill>
                <a:latin typeface="Calibri"/>
              </a:rPr>
              <a:t>Preprocess and classify</a:t>
            </a:r>
          </a:p>
        </p:txBody>
      </p:sp>
      <p:sp>
        <p:nvSpPr>
          <p:cNvPr id="14" name="TextBox 13"/>
          <p:cNvSpPr txBox="1"/>
          <p:nvPr/>
        </p:nvSpPr>
        <p:spPr>
          <a:xfrm>
            <a:off x="5852160" y="3273552"/>
            <a:ext cx="5623560" cy="365760"/>
          </a:xfrm>
          <a:prstGeom prst="rect">
            <a:avLst/>
          </a:prstGeom>
          <a:noFill/>
        </p:spPr>
        <p:txBody>
          <a:bodyPr wrap="square" anchor="t" lIns="0" rIns="0" tIns="0" bIns="0">
            <a:spAutoFit/>
          </a:bodyPr>
          <a:lstStyle/>
          <a:p>
            <a:pPr algn="l"/>
            <a:r>
              <a:rPr sz="1300" b="0" i="0">
                <a:solidFill>
                  <a:srgbClr val="525D70"/>
                </a:solidFill>
                <a:latin typeface="Calibri"/>
              </a:rPr>
              <a:t>Text, media or deleted; links and phone numbers masked; Unicode-aware tokens</a:t>
            </a:r>
          </a:p>
        </p:txBody>
      </p:sp>
      <p:sp>
        <p:nvSpPr>
          <p:cNvPr id="15" name="Rounded Rectangle 14"/>
          <p:cNvSpPr/>
          <p:nvPr/>
        </p:nvSpPr>
        <p:spPr>
          <a:xfrm>
            <a:off x="5074920" y="3803904"/>
            <a:ext cx="6565392" cy="786384"/>
          </a:xfrm>
          <a:prstGeom prst="roundRect">
            <a:avLst>
              <a:gd name="adj" fmla="val 12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7800" y="4005072"/>
            <a:ext cx="384048" cy="384048"/>
          </a:xfrm>
          <a:prstGeom prst="ellipse">
            <a:avLst/>
          </a:prstGeom>
          <a:solidFill>
            <a:srgbClr val="6240C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7" name="TextBox 16"/>
          <p:cNvSpPr txBox="1"/>
          <p:nvPr/>
        </p:nvSpPr>
        <p:spPr>
          <a:xfrm>
            <a:off x="5852160" y="3886200"/>
            <a:ext cx="5577840" cy="274320"/>
          </a:xfrm>
          <a:prstGeom prst="rect">
            <a:avLst/>
          </a:prstGeom>
          <a:noFill/>
        </p:spPr>
        <p:txBody>
          <a:bodyPr wrap="square" anchor="t" lIns="0" rIns="0" tIns="0" bIns="0">
            <a:spAutoFit/>
          </a:bodyPr>
          <a:lstStyle/>
          <a:p>
            <a:pPr algn="l"/>
            <a:r>
              <a:rPr sz="1600" b="1" i="0">
                <a:solidFill>
                  <a:srgbClr val="172033"/>
                </a:solidFill>
                <a:latin typeface="Calibri"/>
              </a:rPr>
              <a:t>Analyse</a:t>
            </a:r>
          </a:p>
        </p:txBody>
      </p:sp>
      <p:sp>
        <p:nvSpPr>
          <p:cNvPr id="18" name="TextBox 17"/>
          <p:cNvSpPr txBox="1"/>
          <p:nvPr/>
        </p:nvSpPr>
        <p:spPr>
          <a:xfrm>
            <a:off x="5852160" y="4169664"/>
            <a:ext cx="5623560" cy="365760"/>
          </a:xfrm>
          <a:prstGeom prst="rect">
            <a:avLst/>
          </a:prstGeom>
          <a:noFill/>
        </p:spPr>
        <p:txBody>
          <a:bodyPr wrap="square" anchor="t" lIns="0" rIns="0" tIns="0" bIns="0">
            <a:spAutoFit/>
          </a:bodyPr>
          <a:lstStyle/>
          <a:p>
            <a:pPr algn="l"/>
            <a:r>
              <a:rPr sz="1300" b="0" i="0">
                <a:solidFill>
                  <a:srgbClr val="525D70"/>
                </a:solidFill>
                <a:latin typeface="Calibri"/>
              </a:rPr>
              <a:t>N-grams, TF-IDF, Script Mix, Key Terms and conversation analytics (28 reconciliation checks)</a:t>
            </a:r>
          </a:p>
        </p:txBody>
      </p:sp>
      <p:sp>
        <p:nvSpPr>
          <p:cNvPr id="19" name="Rounded Rectangle 18"/>
          <p:cNvSpPr/>
          <p:nvPr/>
        </p:nvSpPr>
        <p:spPr>
          <a:xfrm>
            <a:off x="5074920" y="4700016"/>
            <a:ext cx="6565392" cy="786384"/>
          </a:xfrm>
          <a:prstGeom prst="roundRect">
            <a:avLst>
              <a:gd name="adj" fmla="val 12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57800" y="4901184"/>
            <a:ext cx="384048" cy="384048"/>
          </a:xfrm>
          <a:prstGeom prst="ellipse">
            <a:avLst/>
          </a:prstGeom>
          <a:solidFill>
            <a:srgbClr val="BF541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1" name="TextBox 20"/>
          <p:cNvSpPr txBox="1"/>
          <p:nvPr/>
        </p:nvSpPr>
        <p:spPr>
          <a:xfrm>
            <a:off x="5852160" y="4782312"/>
            <a:ext cx="5577840" cy="274320"/>
          </a:xfrm>
          <a:prstGeom prst="rect">
            <a:avLst/>
          </a:prstGeom>
          <a:noFill/>
        </p:spPr>
        <p:txBody>
          <a:bodyPr wrap="square" anchor="t" lIns="0" rIns="0" tIns="0" bIns="0">
            <a:spAutoFit/>
          </a:bodyPr>
          <a:lstStyle/>
          <a:p>
            <a:pPr algn="l"/>
            <a:r>
              <a:rPr sz="1600" b="1" i="0">
                <a:solidFill>
                  <a:srgbClr val="172033"/>
                </a:solidFill>
                <a:latin typeface="Calibri"/>
              </a:rPr>
              <a:t>Filter and present</a:t>
            </a:r>
          </a:p>
        </p:txBody>
      </p:sp>
      <p:sp>
        <p:nvSpPr>
          <p:cNvPr id="22" name="TextBox 21"/>
          <p:cNvSpPr txBox="1"/>
          <p:nvPr/>
        </p:nvSpPr>
        <p:spPr>
          <a:xfrm>
            <a:off x="5852160" y="5065776"/>
            <a:ext cx="5623560" cy="365760"/>
          </a:xfrm>
          <a:prstGeom prst="rect">
            <a:avLst/>
          </a:prstGeom>
          <a:noFill/>
        </p:spPr>
        <p:txBody>
          <a:bodyPr wrap="square" anchor="t" lIns="0" rIns="0" tIns="0" bIns="0">
            <a:spAutoFit/>
          </a:bodyPr>
          <a:lstStyle/>
          <a:p>
            <a:pPr algn="l"/>
            <a:r>
              <a:rPr sz="1300" b="0" i="0">
                <a:solidFill>
                  <a:srgbClr val="525D70"/>
                </a:solidFill>
                <a:latin typeface="Calibri"/>
              </a:rPr>
              <a:t>Privacy filter, anonymised results bundle, Streamlit dashboard</a:t>
            </a:r>
          </a:p>
        </p:txBody>
      </p:sp>
      <p:sp>
        <p:nvSpPr>
          <p:cNvPr id="23" name="Rounded Rectangle 22"/>
          <p:cNvSpPr/>
          <p:nvPr/>
        </p:nvSpPr>
        <p:spPr>
          <a:xfrm>
            <a:off x="5074920" y="5650992"/>
            <a:ext cx="6565392" cy="658368"/>
          </a:xfrm>
          <a:prstGeom prst="roundRect">
            <a:avLst>
              <a:gd name="adj" fmla="val 15000"/>
            </a:avLst>
          </a:prstGeom>
          <a:solidFill>
            <a:srgbClr val="E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0" y="5650992"/>
            <a:ext cx="6126480" cy="658368"/>
          </a:xfrm>
          <a:prstGeom prst="rect">
            <a:avLst/>
          </a:prstGeom>
          <a:noFill/>
        </p:spPr>
        <p:txBody>
          <a:bodyPr wrap="square" anchor="ctr" lIns="0" rIns="0" tIns="0" bIns="0">
            <a:spAutoFit/>
          </a:bodyPr>
          <a:lstStyle/>
          <a:p>
            <a:pPr algn="l"/>
            <a:r>
              <a:rPr sz="1500" b="1" i="0">
                <a:solidFill>
                  <a:srgbClr val="1E5AE0"/>
                </a:solidFill>
                <a:latin typeface="Calibri"/>
              </a:rPr>
              <a:t>Public demonstration uses a fictional WhatsApp-style dataset for privacy and reproducibility.</a:t>
            </a:r>
          </a:p>
        </p:txBody>
      </p:sp>
      <p:sp>
        <p:nvSpPr>
          <p:cNvPr id="25" name="TextBox 24"/>
          <p:cNvSpPr txBox="1"/>
          <p:nvPr/>
        </p:nvSpPr>
        <p:spPr>
          <a:xfrm>
            <a:off x="548640" y="6446520"/>
            <a:ext cx="8229600" cy="228600"/>
          </a:xfrm>
          <a:prstGeom prst="rect">
            <a:avLst/>
          </a:prstGeom>
          <a:noFill/>
        </p:spPr>
        <p:txBody>
          <a:bodyPr wrap="square" anchor="t" lIns="0" rIns="0" tIns="0" bIns="0">
            <a:spAutoFit/>
          </a:bodyPr>
          <a:lstStyle/>
          <a:p>
            <a:pPr algn="l"/>
            <a:r>
              <a:rPr sz="1100" b="0" i="0">
                <a:solidFill>
                  <a:srgbClr val="525D70"/>
                </a:solidFill>
                <a:latin typeface="Calibri"/>
              </a:rPr>
              <a:t>WhatsApp NLP &amp; Conversation Analytics Dashboard  |  MSc Data Science  |  Abhishek Vanahalli</a:t>
            </a:r>
          </a:p>
        </p:txBody>
      </p:sp>
      <p:sp>
        <p:nvSpPr>
          <p:cNvPr id="26" name="TextBox 25"/>
          <p:cNvSpPr txBox="1"/>
          <p:nvPr/>
        </p:nvSpPr>
        <p:spPr>
          <a:xfrm>
            <a:off x="10972800" y="6446520"/>
            <a:ext cx="685800" cy="228600"/>
          </a:xfrm>
          <a:prstGeom prst="rect">
            <a:avLst/>
          </a:prstGeom>
          <a:noFill/>
        </p:spPr>
        <p:txBody>
          <a:bodyPr wrap="square" anchor="t" lIns="0" rIns="0" tIns="0" bIns="0">
            <a:spAutoFit/>
          </a:bodyPr>
          <a:lstStyle/>
          <a:p>
            <a:pPr algn="r"/>
            <a:r>
              <a:rPr sz="1100" b="0" i="0">
                <a:solidFill>
                  <a:srgbClr val="525D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DF1F7"/>
        </a:solidFill>
        <a:effectLst/>
      </p:bgPr>
    </p:bg>
    <p:spTree>
      <p:nvGrpSpPr>
        <p:cNvPr id="1" name=""/>
        <p:cNvGrpSpPr/>
        <p:nvPr/>
      </p:nvGrpSpPr>
      <p:grpSpPr/>
      <p:sp>
        <p:nvSpPr>
          <p:cNvPr id="2" name="TextBox 1"/>
          <p:cNvSpPr txBox="1"/>
          <p:nvPr/>
        </p:nvSpPr>
        <p:spPr>
          <a:xfrm>
            <a:off x="548640" y="384048"/>
            <a:ext cx="9601200" cy="640080"/>
          </a:xfrm>
          <a:prstGeom prst="rect">
            <a:avLst/>
          </a:prstGeom>
          <a:noFill/>
        </p:spPr>
        <p:txBody>
          <a:bodyPr wrap="square" anchor="t" lIns="0" rIns="0" tIns="0" bIns="0">
            <a:spAutoFit/>
          </a:bodyPr>
          <a:lstStyle/>
          <a:p>
            <a:pPr algn="l"/>
            <a:r>
              <a:rPr sz="3600" b="1" i="0">
                <a:solidFill>
                  <a:srgbClr val="172033"/>
                </a:solidFill>
                <a:latin typeface="Calibri"/>
              </a:rPr>
              <a:t>NLP Analysis</a:t>
            </a:r>
          </a:p>
        </p:txBody>
      </p:sp>
      <p:sp>
        <p:nvSpPr>
          <p:cNvPr id="3" name="Rounded Rectangle 2"/>
          <p:cNvSpPr/>
          <p:nvPr/>
        </p:nvSpPr>
        <p:spPr>
          <a:xfrm>
            <a:off x="548640" y="1234440"/>
            <a:ext cx="3200400" cy="210312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17320"/>
            <a:ext cx="1554480" cy="310896"/>
          </a:xfrm>
          <a:prstGeom prst="roundRect">
            <a:avLst>
              <a:gd name="adj" fmla="val 50000"/>
            </a:avLst>
          </a:prstGeom>
          <a:solidFill>
            <a:srgbClr val="E1EBF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1E5AE0"/>
                </a:solidFill>
                <a:latin typeface="Calibri"/>
              </a:rPr>
              <a:t>N-GRAMS</a:t>
            </a:r>
          </a:p>
        </p:txBody>
      </p:sp>
      <p:sp>
        <p:nvSpPr>
          <p:cNvPr id="5" name="TextBox 4"/>
          <p:cNvSpPr txBox="1"/>
          <p:nvPr/>
        </p:nvSpPr>
        <p:spPr>
          <a:xfrm>
            <a:off x="777240" y="1892808"/>
            <a:ext cx="2834640" cy="310896"/>
          </a:xfrm>
          <a:prstGeom prst="rect">
            <a:avLst/>
          </a:prstGeom>
          <a:noFill/>
        </p:spPr>
        <p:txBody>
          <a:bodyPr wrap="square" anchor="t" lIns="0" rIns="0" tIns="0" bIns="0">
            <a:spAutoFit/>
          </a:bodyPr>
          <a:lstStyle/>
          <a:p>
            <a:pPr algn="l"/>
            <a:r>
              <a:rPr sz="1500" b="0" i="0">
                <a:solidFill>
                  <a:srgbClr val="172033"/>
                </a:solidFill>
                <a:latin typeface="Calibri"/>
              </a:rPr>
              <a:t>Unigrams</a:t>
            </a:r>
          </a:p>
        </p:txBody>
      </p:sp>
      <p:sp>
        <p:nvSpPr>
          <p:cNvPr id="6" name="TextBox 5"/>
          <p:cNvSpPr txBox="1"/>
          <p:nvPr/>
        </p:nvSpPr>
        <p:spPr>
          <a:xfrm>
            <a:off x="777240" y="2231136"/>
            <a:ext cx="2834640" cy="310896"/>
          </a:xfrm>
          <a:prstGeom prst="rect">
            <a:avLst/>
          </a:prstGeom>
          <a:noFill/>
        </p:spPr>
        <p:txBody>
          <a:bodyPr wrap="square" anchor="t" lIns="0" rIns="0" tIns="0" bIns="0">
            <a:spAutoFit/>
          </a:bodyPr>
          <a:lstStyle/>
          <a:p>
            <a:pPr algn="l"/>
            <a:r>
              <a:rPr sz="1500" b="0" i="0">
                <a:solidFill>
                  <a:srgbClr val="172033"/>
                </a:solidFill>
                <a:latin typeface="Calibri"/>
              </a:rPr>
              <a:t>Bigrams</a:t>
            </a:r>
          </a:p>
        </p:txBody>
      </p:sp>
      <p:sp>
        <p:nvSpPr>
          <p:cNvPr id="7" name="TextBox 6"/>
          <p:cNvSpPr txBox="1"/>
          <p:nvPr/>
        </p:nvSpPr>
        <p:spPr>
          <a:xfrm>
            <a:off x="777240" y="2569464"/>
            <a:ext cx="2834640" cy="310896"/>
          </a:xfrm>
          <a:prstGeom prst="rect">
            <a:avLst/>
          </a:prstGeom>
          <a:noFill/>
        </p:spPr>
        <p:txBody>
          <a:bodyPr wrap="square" anchor="t" lIns="0" rIns="0" tIns="0" bIns="0">
            <a:spAutoFit/>
          </a:bodyPr>
          <a:lstStyle/>
          <a:p>
            <a:pPr algn="l"/>
            <a:r>
              <a:rPr sz="1500" b="0" i="0">
                <a:solidFill>
                  <a:srgbClr val="172033"/>
                </a:solidFill>
                <a:latin typeface="Calibri"/>
              </a:rPr>
              <a:t>Trigrams</a:t>
            </a:r>
          </a:p>
        </p:txBody>
      </p:sp>
      <p:sp>
        <p:nvSpPr>
          <p:cNvPr id="8" name="TextBox 7"/>
          <p:cNvSpPr txBox="1"/>
          <p:nvPr/>
        </p:nvSpPr>
        <p:spPr>
          <a:xfrm>
            <a:off x="777240" y="2907792"/>
            <a:ext cx="2834640" cy="310896"/>
          </a:xfrm>
          <a:prstGeom prst="rect">
            <a:avLst/>
          </a:prstGeom>
          <a:noFill/>
        </p:spPr>
        <p:txBody>
          <a:bodyPr wrap="square" anchor="t" lIns="0" rIns="0" tIns="0" bIns="0">
            <a:spAutoFit/>
          </a:bodyPr>
          <a:lstStyle/>
          <a:p>
            <a:pPr algn="l"/>
            <a:r>
              <a:rPr sz="1500" b="0" i="0">
                <a:solidFill>
                  <a:srgbClr val="172033"/>
                </a:solidFill>
                <a:latin typeface="Calibri"/>
              </a:rPr>
              <a:t>All messages vs unique texts</a:t>
            </a:r>
          </a:p>
        </p:txBody>
      </p:sp>
      <p:sp>
        <p:nvSpPr>
          <p:cNvPr id="9" name="Rounded Rectangle 8"/>
          <p:cNvSpPr/>
          <p:nvPr/>
        </p:nvSpPr>
        <p:spPr>
          <a:xfrm>
            <a:off x="3931920" y="1234440"/>
            <a:ext cx="3200400" cy="210312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417320"/>
            <a:ext cx="1554480" cy="310896"/>
          </a:xfrm>
          <a:prstGeom prst="roundRect">
            <a:avLst>
              <a:gd name="adj" fmla="val 50000"/>
            </a:avLst>
          </a:prstGeom>
          <a:solidFill>
            <a:srgbClr val="EBE5F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6240C8"/>
                </a:solidFill>
                <a:latin typeface="Calibri"/>
              </a:rPr>
              <a:t>TF-IDF</a:t>
            </a:r>
          </a:p>
        </p:txBody>
      </p:sp>
      <p:sp>
        <p:nvSpPr>
          <p:cNvPr id="11" name="TextBox 10"/>
          <p:cNvSpPr txBox="1"/>
          <p:nvPr/>
        </p:nvSpPr>
        <p:spPr>
          <a:xfrm>
            <a:off x="4160520" y="1892808"/>
            <a:ext cx="2834640" cy="310896"/>
          </a:xfrm>
          <a:prstGeom prst="rect">
            <a:avLst/>
          </a:prstGeom>
          <a:noFill/>
        </p:spPr>
        <p:txBody>
          <a:bodyPr wrap="square" anchor="t" lIns="0" rIns="0" tIns="0" bIns="0">
            <a:spAutoFit/>
          </a:bodyPr>
          <a:lstStyle/>
          <a:p>
            <a:pPr algn="l"/>
            <a:r>
              <a:rPr sz="1500" b="0" i="0">
                <a:solidFill>
                  <a:srgbClr val="172033"/>
                </a:solidFill>
                <a:latin typeface="Calibri"/>
              </a:rPr>
              <a:t>Term distinctiveness</a:t>
            </a:r>
          </a:p>
        </p:txBody>
      </p:sp>
      <p:sp>
        <p:nvSpPr>
          <p:cNvPr id="12" name="TextBox 11"/>
          <p:cNvSpPr txBox="1"/>
          <p:nvPr/>
        </p:nvSpPr>
        <p:spPr>
          <a:xfrm>
            <a:off x="4160520" y="2231136"/>
            <a:ext cx="2834640" cy="310896"/>
          </a:xfrm>
          <a:prstGeom prst="rect">
            <a:avLst/>
          </a:prstGeom>
          <a:noFill/>
        </p:spPr>
        <p:txBody>
          <a:bodyPr wrap="square" anchor="t" lIns="0" rIns="0" tIns="0" bIns="0">
            <a:spAutoFit/>
          </a:bodyPr>
          <a:lstStyle/>
          <a:p>
            <a:pPr algn="l"/>
            <a:r>
              <a:rPr sz="1500" b="0" i="0">
                <a:solidFill>
                  <a:srgbClr val="172033"/>
                </a:solidFill>
                <a:latin typeface="Calibri"/>
              </a:rPr>
              <a:t>Primary + unique-text variants</a:t>
            </a:r>
          </a:p>
        </p:txBody>
      </p:sp>
      <p:sp>
        <p:nvSpPr>
          <p:cNvPr id="13" name="TextBox 12"/>
          <p:cNvSpPr txBox="1"/>
          <p:nvPr/>
        </p:nvSpPr>
        <p:spPr>
          <a:xfrm>
            <a:off x="4160520" y="2569464"/>
            <a:ext cx="2834640" cy="310896"/>
          </a:xfrm>
          <a:prstGeom prst="rect">
            <a:avLst/>
          </a:prstGeom>
          <a:noFill/>
        </p:spPr>
        <p:txBody>
          <a:bodyPr wrap="square" anchor="t" lIns="0" rIns="0" tIns="0" bIns="0">
            <a:spAutoFit/>
          </a:bodyPr>
          <a:lstStyle/>
          <a:p>
            <a:pPr algn="l"/>
            <a:r>
              <a:rPr sz="1500" b="0" i="0">
                <a:solidFill>
                  <a:srgbClr val="172033"/>
                </a:solidFill>
                <a:latin typeface="Calibri"/>
              </a:rPr>
              <a:t>Validated against scikit-learn</a:t>
            </a:r>
          </a:p>
        </p:txBody>
      </p:sp>
      <p:sp>
        <p:nvSpPr>
          <p:cNvPr id="14" name="Rounded Rectangle 13"/>
          <p:cNvSpPr/>
          <p:nvPr/>
        </p:nvSpPr>
        <p:spPr>
          <a:xfrm>
            <a:off x="548640" y="3520440"/>
            <a:ext cx="3200400" cy="210312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3703320"/>
            <a:ext cx="1554480" cy="310896"/>
          </a:xfrm>
          <a:prstGeom prst="roundRect">
            <a:avLst>
              <a:gd name="adj" fmla="val 50000"/>
            </a:avLst>
          </a:prstGeom>
          <a:solidFill>
            <a:srgbClr val="D9F1E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08766A"/>
                </a:solidFill>
                <a:latin typeface="Calibri"/>
              </a:rPr>
              <a:t>SCRIPT MIX</a:t>
            </a:r>
          </a:p>
        </p:txBody>
      </p:sp>
      <p:sp>
        <p:nvSpPr>
          <p:cNvPr id="16" name="TextBox 15"/>
          <p:cNvSpPr txBox="1"/>
          <p:nvPr/>
        </p:nvSpPr>
        <p:spPr>
          <a:xfrm>
            <a:off x="777240" y="4178808"/>
            <a:ext cx="2834640" cy="310896"/>
          </a:xfrm>
          <a:prstGeom prst="rect">
            <a:avLst/>
          </a:prstGeom>
          <a:noFill/>
        </p:spPr>
        <p:txBody>
          <a:bodyPr wrap="square" anchor="t" lIns="0" rIns="0" tIns="0" bIns="0">
            <a:spAutoFit/>
          </a:bodyPr>
          <a:lstStyle/>
          <a:p>
            <a:pPr algn="l"/>
            <a:r>
              <a:rPr sz="1500" b="0" i="0">
                <a:solidFill>
                  <a:srgbClr val="172033"/>
                </a:solidFill>
                <a:latin typeface="Calibri"/>
              </a:rPr>
              <a:t>Latin</a:t>
            </a:r>
          </a:p>
        </p:txBody>
      </p:sp>
      <p:sp>
        <p:nvSpPr>
          <p:cNvPr id="17" name="TextBox 16"/>
          <p:cNvSpPr txBox="1"/>
          <p:nvPr/>
        </p:nvSpPr>
        <p:spPr>
          <a:xfrm>
            <a:off x="777240" y="4517136"/>
            <a:ext cx="2834640" cy="310896"/>
          </a:xfrm>
          <a:prstGeom prst="rect">
            <a:avLst/>
          </a:prstGeom>
          <a:noFill/>
        </p:spPr>
        <p:txBody>
          <a:bodyPr wrap="square" anchor="t" lIns="0" rIns="0" tIns="0" bIns="0">
            <a:spAutoFit/>
          </a:bodyPr>
          <a:lstStyle/>
          <a:p>
            <a:pPr algn="l"/>
            <a:r>
              <a:rPr sz="1500" b="0" i="0">
                <a:solidFill>
                  <a:srgbClr val="172033"/>
                </a:solidFill>
                <a:latin typeface="Calibri"/>
              </a:rPr>
              <a:t>Devanagari</a:t>
            </a:r>
          </a:p>
        </p:txBody>
      </p:sp>
      <p:sp>
        <p:nvSpPr>
          <p:cNvPr id="18" name="TextBox 17"/>
          <p:cNvSpPr txBox="1"/>
          <p:nvPr/>
        </p:nvSpPr>
        <p:spPr>
          <a:xfrm>
            <a:off x="777240" y="4855464"/>
            <a:ext cx="2834640" cy="310896"/>
          </a:xfrm>
          <a:prstGeom prst="rect">
            <a:avLst/>
          </a:prstGeom>
          <a:noFill/>
        </p:spPr>
        <p:txBody>
          <a:bodyPr wrap="square" anchor="t" lIns="0" rIns="0" tIns="0" bIns="0">
            <a:spAutoFit/>
          </a:bodyPr>
          <a:lstStyle/>
          <a:p>
            <a:pPr algn="l"/>
            <a:r>
              <a:rPr sz="1500" b="0" i="0">
                <a:solidFill>
                  <a:srgbClr val="172033"/>
                </a:solidFill>
                <a:latin typeface="Calibri"/>
              </a:rPr>
              <a:t>Mixed-script</a:t>
            </a:r>
          </a:p>
        </p:txBody>
      </p:sp>
      <p:sp>
        <p:nvSpPr>
          <p:cNvPr id="19" name="TextBox 18"/>
          <p:cNvSpPr txBox="1"/>
          <p:nvPr/>
        </p:nvSpPr>
        <p:spPr>
          <a:xfrm>
            <a:off x="777240" y="5193792"/>
            <a:ext cx="2834640" cy="310896"/>
          </a:xfrm>
          <a:prstGeom prst="rect">
            <a:avLst/>
          </a:prstGeom>
          <a:noFill/>
        </p:spPr>
        <p:txBody>
          <a:bodyPr wrap="square" anchor="t" lIns="0" rIns="0" tIns="0" bIns="0">
            <a:spAutoFit/>
          </a:bodyPr>
          <a:lstStyle/>
          <a:p>
            <a:pPr algn="l"/>
            <a:r>
              <a:rPr sz="1500" b="0" i="0">
                <a:solidFill>
                  <a:srgbClr val="172033"/>
                </a:solidFill>
                <a:latin typeface="Calibri"/>
              </a:rPr>
              <a:t>No-alphabetic</a:t>
            </a:r>
          </a:p>
        </p:txBody>
      </p:sp>
      <p:sp>
        <p:nvSpPr>
          <p:cNvPr id="20" name="Rounded Rectangle 19"/>
          <p:cNvSpPr/>
          <p:nvPr/>
        </p:nvSpPr>
        <p:spPr>
          <a:xfrm>
            <a:off x="3931920" y="3520440"/>
            <a:ext cx="3200400" cy="210312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114800" y="3703320"/>
            <a:ext cx="1554480" cy="310896"/>
          </a:xfrm>
          <a:prstGeom prst="roundRect">
            <a:avLst>
              <a:gd name="adj" fmla="val 50000"/>
            </a:avLst>
          </a:prstGeom>
          <a:solidFill>
            <a:srgbClr val="FCE6D4"/>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BF5410"/>
                </a:solidFill>
                <a:latin typeface="Calibri"/>
              </a:rPr>
              <a:t>KEY TERMS</a:t>
            </a:r>
          </a:p>
        </p:txBody>
      </p:sp>
      <p:sp>
        <p:nvSpPr>
          <p:cNvPr id="22" name="TextBox 21"/>
          <p:cNvSpPr txBox="1"/>
          <p:nvPr/>
        </p:nvSpPr>
        <p:spPr>
          <a:xfrm>
            <a:off x="4160520" y="4178808"/>
            <a:ext cx="2834640" cy="310896"/>
          </a:xfrm>
          <a:prstGeom prst="rect">
            <a:avLst/>
          </a:prstGeom>
          <a:noFill/>
        </p:spPr>
        <p:txBody>
          <a:bodyPr wrap="square" anchor="t" lIns="0" rIns="0" tIns="0" bIns="0">
            <a:spAutoFit/>
          </a:bodyPr>
          <a:lstStyle/>
          <a:p>
            <a:pPr algn="l"/>
            <a:r>
              <a:rPr sz="1500" b="0" i="0">
                <a:solidFill>
                  <a:srgbClr val="172033"/>
                </a:solidFill>
                <a:latin typeface="Calibri"/>
              </a:rPr>
              <a:t>Message coverage</a:t>
            </a:r>
          </a:p>
        </p:txBody>
      </p:sp>
      <p:sp>
        <p:nvSpPr>
          <p:cNvPr id="23" name="TextBox 22"/>
          <p:cNvSpPr txBox="1"/>
          <p:nvPr/>
        </p:nvSpPr>
        <p:spPr>
          <a:xfrm>
            <a:off x="4160520" y="4517136"/>
            <a:ext cx="2834640" cy="310896"/>
          </a:xfrm>
          <a:prstGeom prst="rect">
            <a:avLst/>
          </a:prstGeom>
          <a:noFill/>
        </p:spPr>
        <p:txBody>
          <a:bodyPr wrap="square" anchor="t" lIns="0" rIns="0" tIns="0" bIns="0">
            <a:spAutoFit/>
          </a:bodyPr>
          <a:lstStyle/>
          <a:p>
            <a:pPr algn="l"/>
            <a:r>
              <a:rPr sz="1500" b="0" i="0">
                <a:solidFill>
                  <a:srgbClr val="172033"/>
                </a:solidFill>
                <a:latin typeface="Calibri"/>
              </a:rPr>
              <a:t>Total occurrences</a:t>
            </a:r>
          </a:p>
        </p:txBody>
      </p:sp>
      <p:sp>
        <p:nvSpPr>
          <p:cNvPr id="24" name="TextBox 23"/>
          <p:cNvSpPr txBox="1"/>
          <p:nvPr/>
        </p:nvSpPr>
        <p:spPr>
          <a:xfrm>
            <a:off x="4160520" y="4855464"/>
            <a:ext cx="2834640" cy="310896"/>
          </a:xfrm>
          <a:prstGeom prst="rect">
            <a:avLst/>
          </a:prstGeom>
          <a:noFill/>
        </p:spPr>
        <p:txBody>
          <a:bodyPr wrap="square" anchor="t" lIns="0" rIns="0" tIns="0" bIns="0">
            <a:spAutoFit/>
          </a:bodyPr>
          <a:lstStyle/>
          <a:p>
            <a:pPr algn="l"/>
            <a:r>
              <a:rPr sz="1500" b="0" i="0">
                <a:solidFill>
                  <a:srgbClr val="172033"/>
                </a:solidFill>
                <a:latin typeface="Calibri"/>
              </a:rPr>
              <a:t>Repeated-message effect</a:t>
            </a:r>
          </a:p>
        </p:txBody>
      </p:sp>
      <p:sp>
        <p:nvSpPr>
          <p:cNvPr id="25" name="Rounded Rectangle 24"/>
          <p:cNvSpPr/>
          <p:nvPr/>
        </p:nvSpPr>
        <p:spPr>
          <a:xfrm>
            <a:off x="548640" y="5852160"/>
            <a:ext cx="6583680" cy="475488"/>
          </a:xfrm>
          <a:prstGeom prst="roundRect">
            <a:avLst>
              <a:gd name="adj" fmla="val 20000"/>
            </a:avLst>
          </a:prstGeom>
          <a:solidFill>
            <a:srgbClr val="D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852160"/>
            <a:ext cx="6217920" cy="475488"/>
          </a:xfrm>
          <a:prstGeom prst="rect">
            <a:avLst/>
          </a:prstGeom>
          <a:noFill/>
        </p:spPr>
        <p:txBody>
          <a:bodyPr wrap="square" anchor="ctr" lIns="0" rIns="0" tIns="0" bIns="0">
            <a:spAutoFit/>
          </a:bodyPr>
          <a:lstStyle/>
          <a:p>
            <a:pPr algn="l"/>
            <a:r>
              <a:rPr sz="1500" b="1" i="0">
                <a:solidFill>
                  <a:srgbClr val="08766A"/>
                </a:solidFill>
                <a:latin typeface="Calibri"/>
              </a:rPr>
              <a:t>Script Mix is a writing-system analysis, not language identification.</a:t>
            </a:r>
          </a:p>
        </p:txBody>
      </p:sp>
      <p:sp>
        <p:nvSpPr>
          <p:cNvPr id="27" name="Rounded Rectangle 26"/>
          <p:cNvSpPr/>
          <p:nvPr/>
        </p:nvSpPr>
        <p:spPr>
          <a:xfrm>
            <a:off x="7680960" y="1280160"/>
            <a:ext cx="4114800" cy="4263486"/>
          </a:xfrm>
          <a:prstGeom prst="roundRect">
            <a:avLst>
              <a:gd name="adj" fmla="val 25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tfidf_main.png"/>
          <p:cNvPicPr>
            <a:picLocks noChangeAspect="1"/>
          </p:cNvPicPr>
          <p:nvPr/>
        </p:nvPicPr>
        <p:blipFill>
          <a:blip r:embed="rId3"/>
          <a:stretch>
            <a:fillRect/>
          </a:stretch>
        </p:blipFill>
        <p:spPr>
          <a:xfrm>
            <a:off x="7772400" y="1371600"/>
            <a:ext cx="3931920" cy="4080606"/>
          </a:xfrm>
          <a:prstGeom prst="rect">
            <a:avLst/>
          </a:prstGeom>
        </p:spPr>
      </p:pic>
      <p:sp>
        <p:nvSpPr>
          <p:cNvPr id="29" name="TextBox 28"/>
          <p:cNvSpPr txBox="1"/>
          <p:nvPr/>
        </p:nvSpPr>
        <p:spPr>
          <a:xfrm>
            <a:off x="7772400" y="5680806"/>
            <a:ext cx="4114800" cy="274320"/>
          </a:xfrm>
          <a:prstGeom prst="rect">
            <a:avLst/>
          </a:prstGeom>
          <a:noFill/>
        </p:spPr>
        <p:txBody>
          <a:bodyPr wrap="square" anchor="t" lIns="0" rIns="0" tIns="0" bIns="0">
            <a:spAutoFit/>
          </a:bodyPr>
          <a:lstStyle/>
          <a:p>
            <a:pPr algn="l"/>
            <a:r>
              <a:rPr sz="1200" b="0" i="1">
                <a:solidFill>
                  <a:srgbClr val="525D70"/>
                </a:solidFill>
                <a:latin typeface="Calibri"/>
              </a:rPr>
              <a:t>TF-IDF tab, fictional sample chat</a:t>
            </a:r>
          </a:p>
        </p:txBody>
      </p:sp>
      <p:sp>
        <p:nvSpPr>
          <p:cNvPr id="30" name="TextBox 29"/>
          <p:cNvSpPr txBox="1"/>
          <p:nvPr/>
        </p:nvSpPr>
        <p:spPr>
          <a:xfrm>
            <a:off x="548640" y="6446520"/>
            <a:ext cx="8229600" cy="228600"/>
          </a:xfrm>
          <a:prstGeom prst="rect">
            <a:avLst/>
          </a:prstGeom>
          <a:noFill/>
        </p:spPr>
        <p:txBody>
          <a:bodyPr wrap="square" anchor="t" lIns="0" rIns="0" tIns="0" bIns="0">
            <a:spAutoFit/>
          </a:bodyPr>
          <a:lstStyle/>
          <a:p>
            <a:pPr algn="l"/>
            <a:r>
              <a:rPr sz="1100" b="0" i="0">
                <a:solidFill>
                  <a:srgbClr val="525D70"/>
                </a:solidFill>
                <a:latin typeface="Calibri"/>
              </a:rPr>
              <a:t>WhatsApp NLP &amp; Conversation Analytics Dashboard  |  MSc Data Science  |  Abhishek Vanahalli</a:t>
            </a:r>
          </a:p>
        </p:txBody>
      </p:sp>
      <p:sp>
        <p:nvSpPr>
          <p:cNvPr id="31" name="TextBox 30"/>
          <p:cNvSpPr txBox="1"/>
          <p:nvPr/>
        </p:nvSpPr>
        <p:spPr>
          <a:xfrm>
            <a:off x="10972800" y="6446520"/>
            <a:ext cx="685800" cy="228600"/>
          </a:xfrm>
          <a:prstGeom prst="rect">
            <a:avLst/>
          </a:prstGeom>
          <a:noFill/>
        </p:spPr>
        <p:txBody>
          <a:bodyPr wrap="square" anchor="t" lIns="0" rIns="0" tIns="0" bIns="0">
            <a:spAutoFit/>
          </a:bodyPr>
          <a:lstStyle/>
          <a:p>
            <a:pPr algn="r"/>
            <a:r>
              <a:rPr sz="1100" b="0" i="0">
                <a:solidFill>
                  <a:srgbClr val="525D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DF1F7"/>
        </a:solidFill>
        <a:effectLst/>
      </p:bgPr>
    </p:bg>
    <p:spTree>
      <p:nvGrpSpPr>
        <p:cNvPr id="1" name=""/>
        <p:cNvGrpSpPr/>
        <p:nvPr/>
      </p:nvGrpSpPr>
      <p:grpSpPr/>
      <p:sp>
        <p:nvSpPr>
          <p:cNvPr id="2" name="TextBox 1"/>
          <p:cNvSpPr txBox="1"/>
          <p:nvPr/>
        </p:nvSpPr>
        <p:spPr>
          <a:xfrm>
            <a:off x="548640" y="384048"/>
            <a:ext cx="9601200" cy="640080"/>
          </a:xfrm>
          <a:prstGeom prst="rect">
            <a:avLst/>
          </a:prstGeom>
          <a:noFill/>
        </p:spPr>
        <p:txBody>
          <a:bodyPr wrap="square" anchor="t" lIns="0" rIns="0" tIns="0" bIns="0">
            <a:spAutoFit/>
          </a:bodyPr>
          <a:lstStyle/>
          <a:p>
            <a:pPr algn="l"/>
            <a:r>
              <a:rPr sz="3600" b="1" i="0">
                <a:solidFill>
                  <a:srgbClr val="172033"/>
                </a:solidFill>
                <a:latin typeface="Calibri"/>
              </a:rPr>
              <a:t>Conversation Analytics</a:t>
            </a:r>
          </a:p>
        </p:txBody>
      </p:sp>
      <p:sp>
        <p:nvSpPr>
          <p:cNvPr id="3" name="TextBox 2"/>
          <p:cNvSpPr txBox="1"/>
          <p:nvPr/>
        </p:nvSpPr>
        <p:spPr>
          <a:xfrm>
            <a:off x="548640" y="987552"/>
            <a:ext cx="10515600" cy="365760"/>
          </a:xfrm>
          <a:prstGeom prst="rect">
            <a:avLst/>
          </a:prstGeom>
          <a:noFill/>
        </p:spPr>
        <p:txBody>
          <a:bodyPr wrap="square" anchor="t" lIns="0" rIns="0" tIns="0" bIns="0">
            <a:spAutoFit/>
          </a:bodyPr>
          <a:lstStyle/>
          <a:p>
            <a:pPr algn="l"/>
            <a:r>
              <a:rPr sz="1600" b="0" i="0">
                <a:solidFill>
                  <a:srgbClr val="525D70"/>
                </a:solidFill>
                <a:latin typeface="Calibri"/>
              </a:rPr>
              <a:t>Fictional sample dataset: 12 invented participants</a:t>
            </a:r>
          </a:p>
        </p:txBody>
      </p:sp>
      <p:sp>
        <p:nvSpPr>
          <p:cNvPr id="4" name="Rounded Rectangle 3"/>
          <p:cNvSpPr/>
          <p:nvPr/>
        </p:nvSpPr>
        <p:spPr>
          <a:xfrm>
            <a:off x="548640" y="1600200"/>
            <a:ext cx="1783080" cy="1024128"/>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728216"/>
            <a:ext cx="1453895" cy="237744"/>
          </a:xfrm>
          <a:prstGeom prst="rect">
            <a:avLst/>
          </a:prstGeom>
          <a:noFill/>
        </p:spPr>
        <p:txBody>
          <a:bodyPr wrap="square" anchor="t" lIns="0" rIns="0" tIns="0" bIns="0">
            <a:spAutoFit/>
          </a:bodyPr>
          <a:lstStyle/>
          <a:p>
            <a:pPr algn="l"/>
            <a:r>
              <a:rPr sz="1100" b="1" i="0">
                <a:solidFill>
                  <a:srgbClr val="525D70"/>
                </a:solidFill>
                <a:latin typeface="Calibri"/>
              </a:rPr>
              <a:t>TOTAL ROWS</a:t>
            </a:r>
          </a:p>
        </p:txBody>
      </p:sp>
      <p:sp>
        <p:nvSpPr>
          <p:cNvPr id="6" name="TextBox 5"/>
          <p:cNvSpPr txBox="1"/>
          <p:nvPr/>
        </p:nvSpPr>
        <p:spPr>
          <a:xfrm>
            <a:off x="713232" y="1947672"/>
            <a:ext cx="1453895" cy="457200"/>
          </a:xfrm>
          <a:prstGeom prst="rect">
            <a:avLst/>
          </a:prstGeom>
          <a:noFill/>
        </p:spPr>
        <p:txBody>
          <a:bodyPr wrap="square" anchor="t" lIns="0" rIns="0" tIns="0" bIns="0">
            <a:spAutoFit/>
          </a:bodyPr>
          <a:lstStyle/>
          <a:p>
            <a:pPr algn="l"/>
            <a:r>
              <a:rPr sz="2800" b="1" i="0">
                <a:solidFill>
                  <a:srgbClr val="172033"/>
                </a:solidFill>
                <a:latin typeface="Calibri"/>
              </a:rPr>
              <a:t>168</a:t>
            </a:r>
          </a:p>
        </p:txBody>
      </p:sp>
      <p:sp>
        <p:nvSpPr>
          <p:cNvPr id="7" name="TextBox 6"/>
          <p:cNvSpPr txBox="1"/>
          <p:nvPr/>
        </p:nvSpPr>
        <p:spPr>
          <a:xfrm>
            <a:off x="713232" y="2331720"/>
            <a:ext cx="1453895" cy="237744"/>
          </a:xfrm>
          <a:prstGeom prst="rect">
            <a:avLst/>
          </a:prstGeom>
          <a:noFill/>
        </p:spPr>
        <p:txBody>
          <a:bodyPr wrap="square" anchor="t" lIns="0" rIns="0" tIns="0" bIns="0">
            <a:spAutoFit/>
          </a:bodyPr>
          <a:lstStyle/>
          <a:p>
            <a:pPr algn="l"/>
            <a:r>
              <a:rPr sz="1200" b="0" i="0">
                <a:solidFill>
                  <a:srgbClr val="525D70"/>
                </a:solidFill>
                <a:latin typeface="Calibri"/>
              </a:rPr>
              <a:t>parsed</a:t>
            </a:r>
          </a:p>
        </p:txBody>
      </p:sp>
      <p:sp>
        <p:nvSpPr>
          <p:cNvPr id="8" name="Oval 7"/>
          <p:cNvSpPr/>
          <p:nvPr/>
        </p:nvSpPr>
        <p:spPr>
          <a:xfrm>
            <a:off x="1911095" y="1728216"/>
            <a:ext cx="237744" cy="237744"/>
          </a:xfrm>
          <a:prstGeom prst="ellipse">
            <a:avLst/>
          </a:prstGeom>
          <a:solidFill>
            <a:srgbClr val="E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441448" y="1600200"/>
            <a:ext cx="1783080" cy="1024128"/>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40" y="1728216"/>
            <a:ext cx="1453895" cy="237744"/>
          </a:xfrm>
          <a:prstGeom prst="rect">
            <a:avLst/>
          </a:prstGeom>
          <a:noFill/>
        </p:spPr>
        <p:txBody>
          <a:bodyPr wrap="square" anchor="t" lIns="0" rIns="0" tIns="0" bIns="0">
            <a:spAutoFit/>
          </a:bodyPr>
          <a:lstStyle/>
          <a:p>
            <a:pPr algn="l"/>
            <a:r>
              <a:rPr sz="1100" b="1" i="0">
                <a:solidFill>
                  <a:srgbClr val="525D70"/>
                </a:solidFill>
                <a:latin typeface="Calibri"/>
              </a:rPr>
              <a:t>USER ROWS</a:t>
            </a:r>
          </a:p>
        </p:txBody>
      </p:sp>
      <p:sp>
        <p:nvSpPr>
          <p:cNvPr id="11" name="TextBox 10"/>
          <p:cNvSpPr txBox="1"/>
          <p:nvPr/>
        </p:nvSpPr>
        <p:spPr>
          <a:xfrm>
            <a:off x="2606040" y="1947672"/>
            <a:ext cx="1453895" cy="457200"/>
          </a:xfrm>
          <a:prstGeom prst="rect">
            <a:avLst/>
          </a:prstGeom>
          <a:noFill/>
        </p:spPr>
        <p:txBody>
          <a:bodyPr wrap="square" anchor="t" lIns="0" rIns="0" tIns="0" bIns="0">
            <a:spAutoFit/>
          </a:bodyPr>
          <a:lstStyle/>
          <a:p>
            <a:pPr algn="l"/>
            <a:r>
              <a:rPr sz="2800" b="1" i="0">
                <a:solidFill>
                  <a:srgbClr val="172033"/>
                </a:solidFill>
                <a:latin typeface="Calibri"/>
              </a:rPr>
              <a:t>160</a:t>
            </a:r>
          </a:p>
        </p:txBody>
      </p:sp>
      <p:sp>
        <p:nvSpPr>
          <p:cNvPr id="12" name="TextBox 11"/>
          <p:cNvSpPr txBox="1"/>
          <p:nvPr/>
        </p:nvSpPr>
        <p:spPr>
          <a:xfrm>
            <a:off x="2606040" y="2331720"/>
            <a:ext cx="1453895" cy="237744"/>
          </a:xfrm>
          <a:prstGeom prst="rect">
            <a:avLst/>
          </a:prstGeom>
          <a:noFill/>
        </p:spPr>
        <p:txBody>
          <a:bodyPr wrap="square" anchor="t" lIns="0" rIns="0" tIns="0" bIns="0">
            <a:spAutoFit/>
          </a:bodyPr>
          <a:lstStyle/>
          <a:p>
            <a:pPr algn="l"/>
            <a:r>
              <a:rPr sz="1200" b="0" i="0">
                <a:solidFill>
                  <a:srgbClr val="525D70"/>
                </a:solidFill>
                <a:latin typeface="Calibri"/>
              </a:rPr>
              <a:t>of 168 rows</a:t>
            </a:r>
          </a:p>
        </p:txBody>
      </p:sp>
      <p:sp>
        <p:nvSpPr>
          <p:cNvPr id="13" name="Oval 12"/>
          <p:cNvSpPr/>
          <p:nvPr/>
        </p:nvSpPr>
        <p:spPr>
          <a:xfrm>
            <a:off x="3803904" y="1728216"/>
            <a:ext cx="237744" cy="237744"/>
          </a:xfrm>
          <a:prstGeom prst="ellipse">
            <a:avLst/>
          </a:prstGeom>
          <a:solidFill>
            <a:srgbClr val="E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34255" y="1600200"/>
            <a:ext cx="1783080" cy="1024128"/>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7" y="1728216"/>
            <a:ext cx="1453895" cy="237744"/>
          </a:xfrm>
          <a:prstGeom prst="rect">
            <a:avLst/>
          </a:prstGeom>
          <a:noFill/>
        </p:spPr>
        <p:txBody>
          <a:bodyPr wrap="square" anchor="t" lIns="0" rIns="0" tIns="0" bIns="0">
            <a:spAutoFit/>
          </a:bodyPr>
          <a:lstStyle/>
          <a:p>
            <a:pPr algn="l"/>
            <a:r>
              <a:rPr sz="1100" b="1" i="0">
                <a:solidFill>
                  <a:srgbClr val="525D70"/>
                </a:solidFill>
                <a:latin typeface="Calibri"/>
              </a:rPr>
              <a:t>TEXT MESSAGES</a:t>
            </a:r>
          </a:p>
        </p:txBody>
      </p:sp>
      <p:sp>
        <p:nvSpPr>
          <p:cNvPr id="16" name="TextBox 15"/>
          <p:cNvSpPr txBox="1"/>
          <p:nvPr/>
        </p:nvSpPr>
        <p:spPr>
          <a:xfrm>
            <a:off x="4498847" y="1947672"/>
            <a:ext cx="1453895" cy="457200"/>
          </a:xfrm>
          <a:prstGeom prst="rect">
            <a:avLst/>
          </a:prstGeom>
          <a:noFill/>
        </p:spPr>
        <p:txBody>
          <a:bodyPr wrap="square" anchor="t" lIns="0" rIns="0" tIns="0" bIns="0">
            <a:spAutoFit/>
          </a:bodyPr>
          <a:lstStyle/>
          <a:p>
            <a:pPr algn="l"/>
            <a:r>
              <a:rPr sz="2800" b="1" i="0">
                <a:solidFill>
                  <a:srgbClr val="172033"/>
                </a:solidFill>
                <a:latin typeface="Calibri"/>
              </a:rPr>
              <a:t>143</a:t>
            </a:r>
          </a:p>
        </p:txBody>
      </p:sp>
      <p:sp>
        <p:nvSpPr>
          <p:cNvPr id="17" name="TextBox 16"/>
          <p:cNvSpPr txBox="1"/>
          <p:nvPr/>
        </p:nvSpPr>
        <p:spPr>
          <a:xfrm>
            <a:off x="4498847" y="2331720"/>
            <a:ext cx="1453895" cy="237744"/>
          </a:xfrm>
          <a:prstGeom prst="rect">
            <a:avLst/>
          </a:prstGeom>
          <a:noFill/>
        </p:spPr>
        <p:txBody>
          <a:bodyPr wrap="square" anchor="t" lIns="0" rIns="0" tIns="0" bIns="0">
            <a:spAutoFit/>
          </a:bodyPr>
          <a:lstStyle/>
          <a:p>
            <a:pPr algn="l"/>
            <a:r>
              <a:rPr sz="1200" b="0" i="0">
                <a:solidFill>
                  <a:srgbClr val="525D70"/>
                </a:solidFill>
                <a:latin typeface="Calibri"/>
              </a:rPr>
              <a:t>analysed</a:t>
            </a:r>
          </a:p>
        </p:txBody>
      </p:sp>
      <p:sp>
        <p:nvSpPr>
          <p:cNvPr id="18" name="Oval 17"/>
          <p:cNvSpPr/>
          <p:nvPr/>
        </p:nvSpPr>
        <p:spPr>
          <a:xfrm>
            <a:off x="5696712" y="1728216"/>
            <a:ext cx="237744" cy="237744"/>
          </a:xfrm>
          <a:prstGeom prst="ellipse">
            <a:avLst/>
          </a:prstGeom>
          <a:solidFill>
            <a:srgbClr val="D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2734056"/>
            <a:ext cx="1783080" cy="1024128"/>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62072"/>
            <a:ext cx="1453895" cy="237744"/>
          </a:xfrm>
          <a:prstGeom prst="rect">
            <a:avLst/>
          </a:prstGeom>
          <a:noFill/>
        </p:spPr>
        <p:txBody>
          <a:bodyPr wrap="square" anchor="t" lIns="0" rIns="0" tIns="0" bIns="0">
            <a:spAutoFit/>
          </a:bodyPr>
          <a:lstStyle/>
          <a:p>
            <a:pPr algn="l"/>
            <a:r>
              <a:rPr sz="1100" b="1" i="0">
                <a:solidFill>
                  <a:srgbClr val="525D70"/>
                </a:solidFill>
                <a:latin typeface="Calibri"/>
              </a:rPr>
              <a:t>MEDIA ROWS</a:t>
            </a:r>
          </a:p>
        </p:txBody>
      </p:sp>
      <p:sp>
        <p:nvSpPr>
          <p:cNvPr id="21" name="TextBox 20"/>
          <p:cNvSpPr txBox="1"/>
          <p:nvPr/>
        </p:nvSpPr>
        <p:spPr>
          <a:xfrm>
            <a:off x="713232" y="3081528"/>
            <a:ext cx="1453895" cy="457200"/>
          </a:xfrm>
          <a:prstGeom prst="rect">
            <a:avLst/>
          </a:prstGeom>
          <a:noFill/>
        </p:spPr>
        <p:txBody>
          <a:bodyPr wrap="square" anchor="t" lIns="0" rIns="0" tIns="0" bIns="0">
            <a:spAutoFit/>
          </a:bodyPr>
          <a:lstStyle/>
          <a:p>
            <a:pPr algn="l"/>
            <a:r>
              <a:rPr sz="2800" b="1" i="0">
                <a:solidFill>
                  <a:srgbClr val="172033"/>
                </a:solidFill>
                <a:latin typeface="Calibri"/>
              </a:rPr>
              <a:t>12</a:t>
            </a:r>
          </a:p>
        </p:txBody>
      </p:sp>
      <p:sp>
        <p:nvSpPr>
          <p:cNvPr id="22" name="TextBox 21"/>
          <p:cNvSpPr txBox="1"/>
          <p:nvPr/>
        </p:nvSpPr>
        <p:spPr>
          <a:xfrm>
            <a:off x="713232" y="3465576"/>
            <a:ext cx="1453895" cy="237744"/>
          </a:xfrm>
          <a:prstGeom prst="rect">
            <a:avLst/>
          </a:prstGeom>
          <a:noFill/>
        </p:spPr>
        <p:txBody>
          <a:bodyPr wrap="square" anchor="t" lIns="0" rIns="0" tIns="0" bIns="0">
            <a:spAutoFit/>
          </a:bodyPr>
          <a:lstStyle/>
          <a:p>
            <a:pPr algn="l"/>
            <a:r>
              <a:rPr sz="1200" b="0" i="0">
                <a:solidFill>
                  <a:srgbClr val="525D70"/>
                </a:solidFill>
                <a:latin typeface="Calibri"/>
              </a:rPr>
              <a:t>placeholders</a:t>
            </a:r>
          </a:p>
        </p:txBody>
      </p:sp>
      <p:sp>
        <p:nvSpPr>
          <p:cNvPr id="23" name="Oval 22"/>
          <p:cNvSpPr/>
          <p:nvPr/>
        </p:nvSpPr>
        <p:spPr>
          <a:xfrm>
            <a:off x="1911095" y="2862072"/>
            <a:ext cx="237744" cy="237744"/>
          </a:xfrm>
          <a:prstGeom prst="ellipse">
            <a:avLst/>
          </a:prstGeom>
          <a:solidFill>
            <a:srgbClr val="FCE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41448" y="2734056"/>
            <a:ext cx="1783080" cy="1024128"/>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06040" y="2862072"/>
            <a:ext cx="1453895" cy="237744"/>
          </a:xfrm>
          <a:prstGeom prst="rect">
            <a:avLst/>
          </a:prstGeom>
          <a:noFill/>
        </p:spPr>
        <p:txBody>
          <a:bodyPr wrap="square" anchor="t" lIns="0" rIns="0" tIns="0" bIns="0">
            <a:spAutoFit/>
          </a:bodyPr>
          <a:lstStyle/>
          <a:p>
            <a:pPr algn="l"/>
            <a:r>
              <a:rPr sz="1100" b="1" i="0">
                <a:solidFill>
                  <a:srgbClr val="525D70"/>
                </a:solidFill>
                <a:latin typeface="Calibri"/>
              </a:rPr>
              <a:t>DELETED ROWS</a:t>
            </a:r>
          </a:p>
        </p:txBody>
      </p:sp>
      <p:sp>
        <p:nvSpPr>
          <p:cNvPr id="26" name="TextBox 25"/>
          <p:cNvSpPr txBox="1"/>
          <p:nvPr/>
        </p:nvSpPr>
        <p:spPr>
          <a:xfrm>
            <a:off x="2606040" y="3081528"/>
            <a:ext cx="1453895" cy="457200"/>
          </a:xfrm>
          <a:prstGeom prst="rect">
            <a:avLst/>
          </a:prstGeom>
          <a:noFill/>
        </p:spPr>
        <p:txBody>
          <a:bodyPr wrap="square" anchor="t" lIns="0" rIns="0" tIns="0" bIns="0">
            <a:spAutoFit/>
          </a:bodyPr>
          <a:lstStyle/>
          <a:p>
            <a:pPr algn="l"/>
            <a:r>
              <a:rPr sz="2800" b="1" i="0">
                <a:solidFill>
                  <a:srgbClr val="172033"/>
                </a:solidFill>
                <a:latin typeface="Calibri"/>
              </a:rPr>
              <a:t>5</a:t>
            </a:r>
          </a:p>
        </p:txBody>
      </p:sp>
      <p:sp>
        <p:nvSpPr>
          <p:cNvPr id="27" name="TextBox 26"/>
          <p:cNvSpPr txBox="1"/>
          <p:nvPr/>
        </p:nvSpPr>
        <p:spPr>
          <a:xfrm>
            <a:off x="2606040" y="3465576"/>
            <a:ext cx="1453895" cy="237744"/>
          </a:xfrm>
          <a:prstGeom prst="rect">
            <a:avLst/>
          </a:prstGeom>
          <a:noFill/>
        </p:spPr>
        <p:txBody>
          <a:bodyPr wrap="square" anchor="t" lIns="0" rIns="0" tIns="0" bIns="0">
            <a:spAutoFit/>
          </a:bodyPr>
          <a:lstStyle/>
          <a:p>
            <a:pPr algn="l"/>
            <a:r>
              <a:rPr sz="1200" b="0" i="0">
                <a:solidFill>
                  <a:srgbClr val="525D70"/>
                </a:solidFill>
                <a:latin typeface="Calibri"/>
              </a:rPr>
              <a:t>placeholders</a:t>
            </a:r>
          </a:p>
        </p:txBody>
      </p:sp>
      <p:sp>
        <p:nvSpPr>
          <p:cNvPr id="28" name="Oval 27"/>
          <p:cNvSpPr/>
          <p:nvPr/>
        </p:nvSpPr>
        <p:spPr>
          <a:xfrm>
            <a:off x="3803904" y="2862072"/>
            <a:ext cx="237744" cy="237744"/>
          </a:xfrm>
          <a:prstGeom prst="ellipse">
            <a:avLst/>
          </a:prstGeom>
          <a:solidFill>
            <a:srgbClr val="FCE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334255" y="2734056"/>
            <a:ext cx="1783080" cy="1024128"/>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98847" y="2862072"/>
            <a:ext cx="1453895" cy="237744"/>
          </a:xfrm>
          <a:prstGeom prst="rect">
            <a:avLst/>
          </a:prstGeom>
          <a:noFill/>
        </p:spPr>
        <p:txBody>
          <a:bodyPr wrap="square" anchor="t" lIns="0" rIns="0" tIns="0" bIns="0">
            <a:spAutoFit/>
          </a:bodyPr>
          <a:lstStyle/>
          <a:p>
            <a:pPr algn="l"/>
            <a:r>
              <a:rPr sz="1100" b="1" i="0">
                <a:solidFill>
                  <a:srgbClr val="525D70"/>
                </a:solidFill>
                <a:latin typeface="Calibri"/>
              </a:rPr>
              <a:t>PARTICIPANTS</a:t>
            </a:r>
          </a:p>
        </p:txBody>
      </p:sp>
      <p:sp>
        <p:nvSpPr>
          <p:cNvPr id="31" name="TextBox 30"/>
          <p:cNvSpPr txBox="1"/>
          <p:nvPr/>
        </p:nvSpPr>
        <p:spPr>
          <a:xfrm>
            <a:off x="4498847" y="3081528"/>
            <a:ext cx="1453895" cy="457200"/>
          </a:xfrm>
          <a:prstGeom prst="rect">
            <a:avLst/>
          </a:prstGeom>
          <a:noFill/>
        </p:spPr>
        <p:txBody>
          <a:bodyPr wrap="square" anchor="t" lIns="0" rIns="0" tIns="0" bIns="0">
            <a:spAutoFit/>
          </a:bodyPr>
          <a:lstStyle/>
          <a:p>
            <a:pPr algn="l"/>
            <a:r>
              <a:rPr sz="2800" b="1" i="0">
                <a:solidFill>
                  <a:srgbClr val="172033"/>
                </a:solidFill>
                <a:latin typeface="Calibri"/>
              </a:rPr>
              <a:t>12</a:t>
            </a:r>
          </a:p>
        </p:txBody>
      </p:sp>
      <p:sp>
        <p:nvSpPr>
          <p:cNvPr id="32" name="TextBox 31"/>
          <p:cNvSpPr txBox="1"/>
          <p:nvPr/>
        </p:nvSpPr>
        <p:spPr>
          <a:xfrm>
            <a:off x="4498847" y="3465576"/>
            <a:ext cx="1453895" cy="237744"/>
          </a:xfrm>
          <a:prstGeom prst="rect">
            <a:avLst/>
          </a:prstGeom>
          <a:noFill/>
        </p:spPr>
        <p:txBody>
          <a:bodyPr wrap="square" anchor="t" lIns="0" rIns="0" tIns="0" bIns="0">
            <a:spAutoFit/>
          </a:bodyPr>
          <a:lstStyle/>
          <a:p>
            <a:pPr algn="l"/>
            <a:r>
              <a:rPr sz="1200" b="0" i="0">
                <a:solidFill>
                  <a:srgbClr val="525D70"/>
                </a:solidFill>
                <a:latin typeface="Calibri"/>
              </a:rPr>
              <a:t>pseudonymised</a:t>
            </a:r>
          </a:p>
        </p:txBody>
      </p:sp>
      <p:sp>
        <p:nvSpPr>
          <p:cNvPr id="33" name="Oval 32"/>
          <p:cNvSpPr/>
          <p:nvPr/>
        </p:nvSpPr>
        <p:spPr>
          <a:xfrm>
            <a:off x="5696712" y="2862072"/>
            <a:ext cx="237744" cy="237744"/>
          </a:xfrm>
          <a:prstGeom prst="ellipse">
            <a:avLst/>
          </a:prstGeom>
          <a:solidFill>
            <a:srgbClr val="EBE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48640" y="3867912"/>
            <a:ext cx="1783080" cy="1024128"/>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3995928"/>
            <a:ext cx="1453895" cy="237744"/>
          </a:xfrm>
          <a:prstGeom prst="rect">
            <a:avLst/>
          </a:prstGeom>
          <a:noFill/>
        </p:spPr>
        <p:txBody>
          <a:bodyPr wrap="square" anchor="t" lIns="0" rIns="0" tIns="0" bIns="0">
            <a:spAutoFit/>
          </a:bodyPr>
          <a:lstStyle/>
          <a:p>
            <a:pPr algn="l"/>
            <a:r>
              <a:rPr sz="1100" b="1" i="0">
                <a:solidFill>
                  <a:srgbClr val="525D70"/>
                </a:solidFill>
                <a:latin typeface="Calibri"/>
              </a:rPr>
              <a:t>ACTIVE DAYS</a:t>
            </a:r>
          </a:p>
        </p:txBody>
      </p:sp>
      <p:sp>
        <p:nvSpPr>
          <p:cNvPr id="36" name="TextBox 35"/>
          <p:cNvSpPr txBox="1"/>
          <p:nvPr/>
        </p:nvSpPr>
        <p:spPr>
          <a:xfrm>
            <a:off x="713232" y="4215384"/>
            <a:ext cx="1453895" cy="457200"/>
          </a:xfrm>
          <a:prstGeom prst="rect">
            <a:avLst/>
          </a:prstGeom>
          <a:noFill/>
        </p:spPr>
        <p:txBody>
          <a:bodyPr wrap="square" anchor="t" lIns="0" rIns="0" tIns="0" bIns="0">
            <a:spAutoFit/>
          </a:bodyPr>
          <a:lstStyle/>
          <a:p>
            <a:pPr algn="l"/>
            <a:r>
              <a:rPr sz="2800" b="1" i="0">
                <a:solidFill>
                  <a:srgbClr val="172033"/>
                </a:solidFill>
                <a:latin typeface="Calibri"/>
              </a:rPr>
              <a:t>13</a:t>
            </a:r>
          </a:p>
        </p:txBody>
      </p:sp>
      <p:sp>
        <p:nvSpPr>
          <p:cNvPr id="37" name="TextBox 36"/>
          <p:cNvSpPr txBox="1"/>
          <p:nvPr/>
        </p:nvSpPr>
        <p:spPr>
          <a:xfrm>
            <a:off x="713232" y="4599432"/>
            <a:ext cx="1453895" cy="237744"/>
          </a:xfrm>
          <a:prstGeom prst="rect">
            <a:avLst/>
          </a:prstGeom>
          <a:noFill/>
        </p:spPr>
        <p:txBody>
          <a:bodyPr wrap="square" anchor="t" lIns="0" rIns="0" tIns="0" bIns="0">
            <a:spAutoFit/>
          </a:bodyPr>
          <a:lstStyle/>
          <a:p>
            <a:pPr algn="l"/>
            <a:r>
              <a:rPr sz="1200" b="0" i="0">
                <a:solidFill>
                  <a:srgbClr val="525D70"/>
                </a:solidFill>
                <a:latin typeface="Calibri"/>
              </a:rPr>
              <a:t>calendar days</a:t>
            </a:r>
          </a:p>
        </p:txBody>
      </p:sp>
      <p:sp>
        <p:nvSpPr>
          <p:cNvPr id="38" name="Oval 37"/>
          <p:cNvSpPr/>
          <p:nvPr/>
        </p:nvSpPr>
        <p:spPr>
          <a:xfrm>
            <a:off x="1911095" y="3995928"/>
            <a:ext cx="237744" cy="237744"/>
          </a:xfrm>
          <a:prstGeom prst="ellipse">
            <a:avLst/>
          </a:prstGeom>
          <a:solidFill>
            <a:srgbClr val="DCF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441448" y="3867912"/>
            <a:ext cx="1783080" cy="1024128"/>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06040" y="3995928"/>
            <a:ext cx="1453895" cy="237744"/>
          </a:xfrm>
          <a:prstGeom prst="rect">
            <a:avLst/>
          </a:prstGeom>
          <a:noFill/>
        </p:spPr>
        <p:txBody>
          <a:bodyPr wrap="square" anchor="t" lIns="0" rIns="0" tIns="0" bIns="0">
            <a:spAutoFit/>
          </a:bodyPr>
          <a:lstStyle/>
          <a:p>
            <a:pPr algn="l"/>
            <a:r>
              <a:rPr sz="1100" b="1" i="0">
                <a:solidFill>
                  <a:srgbClr val="525D70"/>
                </a:solidFill>
                <a:latin typeface="Calibri"/>
              </a:rPr>
              <a:t>PEAK ACTIVITY</a:t>
            </a:r>
          </a:p>
        </p:txBody>
      </p:sp>
      <p:sp>
        <p:nvSpPr>
          <p:cNvPr id="41" name="TextBox 40"/>
          <p:cNvSpPr txBox="1"/>
          <p:nvPr/>
        </p:nvSpPr>
        <p:spPr>
          <a:xfrm>
            <a:off x="2606040" y="4215384"/>
            <a:ext cx="1453895" cy="457200"/>
          </a:xfrm>
          <a:prstGeom prst="rect">
            <a:avLst/>
          </a:prstGeom>
          <a:noFill/>
        </p:spPr>
        <p:txBody>
          <a:bodyPr wrap="square" anchor="t" lIns="0" rIns="0" tIns="0" bIns="0">
            <a:spAutoFit/>
          </a:bodyPr>
          <a:lstStyle/>
          <a:p>
            <a:pPr algn="l"/>
            <a:r>
              <a:rPr sz="2800" b="1" i="0">
                <a:solidFill>
                  <a:srgbClr val="172033"/>
                </a:solidFill>
                <a:latin typeface="Calibri"/>
              </a:rPr>
              <a:t>15 rows</a:t>
            </a:r>
          </a:p>
        </p:txBody>
      </p:sp>
      <p:sp>
        <p:nvSpPr>
          <p:cNvPr id="42" name="TextBox 41"/>
          <p:cNvSpPr txBox="1"/>
          <p:nvPr/>
        </p:nvSpPr>
        <p:spPr>
          <a:xfrm>
            <a:off x="2606040" y="4599432"/>
            <a:ext cx="1453895" cy="237744"/>
          </a:xfrm>
          <a:prstGeom prst="rect">
            <a:avLst/>
          </a:prstGeom>
          <a:noFill/>
        </p:spPr>
        <p:txBody>
          <a:bodyPr wrap="square" anchor="t" lIns="0" rIns="0" tIns="0" bIns="0">
            <a:spAutoFit/>
          </a:bodyPr>
          <a:lstStyle/>
          <a:p>
            <a:pPr algn="l"/>
            <a:r>
              <a:rPr sz="1200" b="0" i="0">
                <a:solidFill>
                  <a:srgbClr val="525D70"/>
                </a:solidFill>
                <a:latin typeface="Calibri"/>
              </a:rPr>
              <a:t>on 2026-03-14</a:t>
            </a:r>
          </a:p>
        </p:txBody>
      </p:sp>
      <p:sp>
        <p:nvSpPr>
          <p:cNvPr id="43" name="Oval 42"/>
          <p:cNvSpPr/>
          <p:nvPr/>
        </p:nvSpPr>
        <p:spPr>
          <a:xfrm>
            <a:off x="3803904" y="3995928"/>
            <a:ext cx="237744" cy="237744"/>
          </a:xfrm>
          <a:prstGeom prst="ellipse">
            <a:avLst/>
          </a:prstGeom>
          <a:solidFill>
            <a:srgbClr val="DCF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334255" y="3867912"/>
            <a:ext cx="1783080" cy="1024128"/>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98847" y="3995928"/>
            <a:ext cx="1453895" cy="237744"/>
          </a:xfrm>
          <a:prstGeom prst="rect">
            <a:avLst/>
          </a:prstGeom>
          <a:noFill/>
        </p:spPr>
        <p:txBody>
          <a:bodyPr wrap="square" anchor="t" lIns="0" rIns="0" tIns="0" bIns="0">
            <a:spAutoFit/>
          </a:bodyPr>
          <a:lstStyle/>
          <a:p>
            <a:pPr algn="l"/>
            <a:r>
              <a:rPr sz="1100" b="1" i="0">
                <a:solidFill>
                  <a:srgbClr val="525D70"/>
                </a:solidFill>
                <a:latin typeface="Calibri"/>
              </a:rPr>
              <a:t>REPEATED TEXTS</a:t>
            </a:r>
          </a:p>
        </p:txBody>
      </p:sp>
      <p:sp>
        <p:nvSpPr>
          <p:cNvPr id="46" name="TextBox 45"/>
          <p:cNvSpPr txBox="1"/>
          <p:nvPr/>
        </p:nvSpPr>
        <p:spPr>
          <a:xfrm>
            <a:off x="4498847" y="4215384"/>
            <a:ext cx="1453895" cy="457200"/>
          </a:xfrm>
          <a:prstGeom prst="rect">
            <a:avLst/>
          </a:prstGeom>
          <a:noFill/>
        </p:spPr>
        <p:txBody>
          <a:bodyPr wrap="square" anchor="t" lIns="0" rIns="0" tIns="0" bIns="0">
            <a:spAutoFit/>
          </a:bodyPr>
          <a:lstStyle/>
          <a:p>
            <a:pPr algn="l"/>
            <a:r>
              <a:rPr sz="2800" b="1" i="0">
                <a:solidFill>
                  <a:srgbClr val="172033"/>
                </a:solidFill>
                <a:latin typeface="Calibri"/>
              </a:rPr>
              <a:t>99 / 143</a:t>
            </a:r>
          </a:p>
        </p:txBody>
      </p:sp>
      <p:sp>
        <p:nvSpPr>
          <p:cNvPr id="47" name="TextBox 46"/>
          <p:cNvSpPr txBox="1"/>
          <p:nvPr/>
        </p:nvSpPr>
        <p:spPr>
          <a:xfrm>
            <a:off x="4498847" y="4599432"/>
            <a:ext cx="1453895" cy="237744"/>
          </a:xfrm>
          <a:prstGeom prst="rect">
            <a:avLst/>
          </a:prstGeom>
          <a:noFill/>
        </p:spPr>
        <p:txBody>
          <a:bodyPr wrap="square" anchor="t" lIns="0" rIns="0" tIns="0" bIns="0">
            <a:spAutoFit/>
          </a:bodyPr>
          <a:lstStyle/>
          <a:p>
            <a:pPr algn="l"/>
            <a:r>
              <a:rPr sz="1200" b="0" i="0">
                <a:solidFill>
                  <a:srgbClr val="525D70"/>
                </a:solidFill>
                <a:latin typeface="Calibri"/>
              </a:rPr>
              <a:t>text messages</a:t>
            </a:r>
          </a:p>
        </p:txBody>
      </p:sp>
      <p:sp>
        <p:nvSpPr>
          <p:cNvPr id="48" name="Oval 47"/>
          <p:cNvSpPr/>
          <p:nvPr/>
        </p:nvSpPr>
        <p:spPr>
          <a:xfrm>
            <a:off x="5696712" y="3995928"/>
            <a:ext cx="237744" cy="237744"/>
          </a:xfrm>
          <a:prstGeom prst="ellipse">
            <a:avLst/>
          </a:prstGeom>
          <a:solidFill>
            <a:srgbClr val="FCE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548640" y="5001768"/>
            <a:ext cx="1783080" cy="1024128"/>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13232" y="5129784"/>
            <a:ext cx="1453895" cy="237744"/>
          </a:xfrm>
          <a:prstGeom prst="rect">
            <a:avLst/>
          </a:prstGeom>
          <a:noFill/>
        </p:spPr>
        <p:txBody>
          <a:bodyPr wrap="square" anchor="t" lIns="0" rIns="0" tIns="0" bIns="0">
            <a:spAutoFit/>
          </a:bodyPr>
          <a:lstStyle/>
          <a:p>
            <a:pPr algn="l"/>
            <a:r>
              <a:rPr sz="1100" b="1" i="0">
                <a:solidFill>
                  <a:srgbClr val="525D70"/>
                </a:solidFill>
                <a:latin typeface="Calibri"/>
              </a:rPr>
              <a:t>UNIQUE TEXTS</a:t>
            </a:r>
          </a:p>
        </p:txBody>
      </p:sp>
      <p:sp>
        <p:nvSpPr>
          <p:cNvPr id="51" name="TextBox 50"/>
          <p:cNvSpPr txBox="1"/>
          <p:nvPr/>
        </p:nvSpPr>
        <p:spPr>
          <a:xfrm>
            <a:off x="713232" y="5349240"/>
            <a:ext cx="1453895" cy="457200"/>
          </a:xfrm>
          <a:prstGeom prst="rect">
            <a:avLst/>
          </a:prstGeom>
          <a:noFill/>
        </p:spPr>
        <p:txBody>
          <a:bodyPr wrap="square" anchor="t" lIns="0" rIns="0" tIns="0" bIns="0">
            <a:spAutoFit/>
          </a:bodyPr>
          <a:lstStyle/>
          <a:p>
            <a:pPr algn="l"/>
            <a:r>
              <a:rPr sz="2800" b="1" i="0">
                <a:solidFill>
                  <a:srgbClr val="172033"/>
                </a:solidFill>
                <a:latin typeface="Calibri"/>
              </a:rPr>
              <a:t>44</a:t>
            </a:r>
          </a:p>
        </p:txBody>
      </p:sp>
      <p:sp>
        <p:nvSpPr>
          <p:cNvPr id="52" name="TextBox 51"/>
          <p:cNvSpPr txBox="1"/>
          <p:nvPr/>
        </p:nvSpPr>
        <p:spPr>
          <a:xfrm>
            <a:off x="713232" y="5733288"/>
            <a:ext cx="1453895" cy="237744"/>
          </a:xfrm>
          <a:prstGeom prst="rect">
            <a:avLst/>
          </a:prstGeom>
          <a:noFill/>
        </p:spPr>
        <p:txBody>
          <a:bodyPr wrap="square" anchor="t" lIns="0" rIns="0" tIns="0" bIns="0">
            <a:spAutoFit/>
          </a:bodyPr>
          <a:lstStyle/>
          <a:p>
            <a:pPr algn="l"/>
            <a:r>
              <a:rPr sz="1200" b="0" i="0">
                <a:solidFill>
                  <a:srgbClr val="525D70"/>
                </a:solidFill>
                <a:latin typeface="Calibri"/>
              </a:rPr>
              <a:t>after masking</a:t>
            </a:r>
          </a:p>
        </p:txBody>
      </p:sp>
      <p:sp>
        <p:nvSpPr>
          <p:cNvPr id="53" name="Oval 52"/>
          <p:cNvSpPr/>
          <p:nvPr/>
        </p:nvSpPr>
        <p:spPr>
          <a:xfrm>
            <a:off x="1911095" y="5129784"/>
            <a:ext cx="237744" cy="237744"/>
          </a:xfrm>
          <a:prstGeom prst="ellipse">
            <a:avLst/>
          </a:prstGeom>
          <a:solidFill>
            <a:srgbClr val="D9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2441448" y="5001768"/>
            <a:ext cx="1783080" cy="1024128"/>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06040" y="5129784"/>
            <a:ext cx="1453895" cy="237744"/>
          </a:xfrm>
          <a:prstGeom prst="rect">
            <a:avLst/>
          </a:prstGeom>
          <a:noFill/>
        </p:spPr>
        <p:txBody>
          <a:bodyPr wrap="square" anchor="t" lIns="0" rIns="0" tIns="0" bIns="0">
            <a:spAutoFit/>
          </a:bodyPr>
          <a:lstStyle/>
          <a:p>
            <a:pPr algn="l"/>
            <a:r>
              <a:rPr sz="1100" b="1" i="0">
                <a:solidFill>
                  <a:srgbClr val="525D70"/>
                </a:solidFill>
                <a:latin typeface="Calibri"/>
              </a:rPr>
              <a:t>TEMPLATES</a:t>
            </a:r>
          </a:p>
        </p:txBody>
      </p:sp>
      <p:sp>
        <p:nvSpPr>
          <p:cNvPr id="56" name="TextBox 55"/>
          <p:cNvSpPr txBox="1"/>
          <p:nvPr/>
        </p:nvSpPr>
        <p:spPr>
          <a:xfrm>
            <a:off x="2606040" y="5349240"/>
            <a:ext cx="1453895" cy="457200"/>
          </a:xfrm>
          <a:prstGeom prst="rect">
            <a:avLst/>
          </a:prstGeom>
          <a:noFill/>
        </p:spPr>
        <p:txBody>
          <a:bodyPr wrap="square" anchor="t" lIns="0" rIns="0" tIns="0" bIns="0">
            <a:spAutoFit/>
          </a:bodyPr>
          <a:lstStyle/>
          <a:p>
            <a:pPr algn="l"/>
            <a:r>
              <a:rPr sz="2800" b="1" i="0">
                <a:solidFill>
                  <a:srgbClr val="172033"/>
                </a:solidFill>
                <a:latin typeface="Calibri"/>
              </a:rPr>
              <a:t>35</a:t>
            </a:r>
          </a:p>
        </p:txBody>
      </p:sp>
      <p:sp>
        <p:nvSpPr>
          <p:cNvPr id="57" name="TextBox 56"/>
          <p:cNvSpPr txBox="1"/>
          <p:nvPr/>
        </p:nvSpPr>
        <p:spPr>
          <a:xfrm>
            <a:off x="2606040" y="5733288"/>
            <a:ext cx="1453895" cy="237744"/>
          </a:xfrm>
          <a:prstGeom prst="rect">
            <a:avLst/>
          </a:prstGeom>
          <a:noFill/>
        </p:spPr>
        <p:txBody>
          <a:bodyPr wrap="square" anchor="t" lIns="0" rIns="0" tIns="0" bIns="0">
            <a:spAutoFit/>
          </a:bodyPr>
          <a:lstStyle/>
          <a:p>
            <a:pPr algn="l"/>
            <a:r>
              <a:rPr sz="1200" b="0" i="0">
                <a:solidFill>
                  <a:srgbClr val="525D70"/>
                </a:solidFill>
                <a:latin typeface="Calibri"/>
              </a:rPr>
              <a:t>repeated</a:t>
            </a:r>
          </a:p>
        </p:txBody>
      </p:sp>
      <p:sp>
        <p:nvSpPr>
          <p:cNvPr id="58" name="Oval 57"/>
          <p:cNvSpPr/>
          <p:nvPr/>
        </p:nvSpPr>
        <p:spPr>
          <a:xfrm>
            <a:off x="3803904" y="5129784"/>
            <a:ext cx="237744" cy="237744"/>
          </a:xfrm>
          <a:prstGeom prst="ellipse">
            <a:avLst/>
          </a:prstGeom>
          <a:solidFill>
            <a:srgbClr val="EBE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334255" y="5001768"/>
            <a:ext cx="1783080" cy="1024128"/>
          </a:xfrm>
          <a:prstGeom prst="roundRect">
            <a:avLst>
              <a:gd name="adj" fmla="val 10000"/>
            </a:avLst>
          </a:prstGeom>
          <a:solidFill>
            <a:srgbClr val="E1E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471416" y="5001768"/>
            <a:ext cx="1508760" cy="1024128"/>
          </a:xfrm>
          <a:prstGeom prst="rect">
            <a:avLst/>
          </a:prstGeom>
          <a:noFill/>
        </p:spPr>
        <p:txBody>
          <a:bodyPr wrap="square" anchor="ctr" lIns="0" rIns="0" tIns="0" bIns="0">
            <a:spAutoFit/>
          </a:bodyPr>
          <a:lstStyle/>
          <a:p>
            <a:pPr algn="l"/>
            <a:r>
              <a:rPr sz="1500" b="1" i="0">
                <a:solidFill>
                  <a:srgbClr val="1E5AE0"/>
                </a:solidFill>
                <a:latin typeface="Calibri"/>
              </a:rPr>
              <a:t>Fictional sample dataset</a:t>
            </a:r>
          </a:p>
        </p:txBody>
      </p:sp>
      <p:sp>
        <p:nvSpPr>
          <p:cNvPr id="61" name="Rounded Rectangle 60"/>
          <p:cNvSpPr/>
          <p:nvPr/>
        </p:nvSpPr>
        <p:spPr>
          <a:xfrm>
            <a:off x="6400800" y="1600200"/>
            <a:ext cx="4839089" cy="4389120"/>
          </a:xfrm>
          <a:prstGeom prst="roundRect">
            <a:avLst>
              <a:gd name="adj" fmla="val 25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conversation_main.png"/>
          <p:cNvPicPr>
            <a:picLocks noChangeAspect="1"/>
          </p:cNvPicPr>
          <p:nvPr/>
        </p:nvPicPr>
        <p:blipFill>
          <a:blip r:embed="rId3"/>
          <a:stretch>
            <a:fillRect/>
          </a:stretch>
        </p:blipFill>
        <p:spPr>
          <a:xfrm>
            <a:off x="6492240" y="1691640"/>
            <a:ext cx="4656209" cy="4206240"/>
          </a:xfrm>
          <a:prstGeom prst="rect">
            <a:avLst/>
          </a:prstGeom>
        </p:spPr>
      </p:pic>
      <p:sp>
        <p:nvSpPr>
          <p:cNvPr id="63" name="TextBox 62"/>
          <p:cNvSpPr txBox="1"/>
          <p:nvPr/>
        </p:nvSpPr>
        <p:spPr>
          <a:xfrm>
            <a:off x="6492240" y="6126479"/>
            <a:ext cx="5120640" cy="274320"/>
          </a:xfrm>
          <a:prstGeom prst="rect">
            <a:avLst/>
          </a:prstGeom>
          <a:noFill/>
        </p:spPr>
        <p:txBody>
          <a:bodyPr wrap="square" anchor="t" lIns="0" rIns="0" tIns="0" bIns="0">
            <a:spAutoFit/>
          </a:bodyPr>
          <a:lstStyle/>
          <a:p>
            <a:pPr algn="l"/>
            <a:r>
              <a:rPr sz="1200" b="0" i="1">
                <a:solidFill>
                  <a:srgbClr val="525D70"/>
                </a:solidFill>
                <a:latin typeface="Calibri"/>
              </a:rPr>
              <a:t>Conversation page, fictional sample chat</a:t>
            </a:r>
          </a:p>
        </p:txBody>
      </p:sp>
      <p:sp>
        <p:nvSpPr>
          <p:cNvPr id="64" name="TextBox 63"/>
          <p:cNvSpPr txBox="1"/>
          <p:nvPr/>
        </p:nvSpPr>
        <p:spPr>
          <a:xfrm>
            <a:off x="548640" y="6446520"/>
            <a:ext cx="8229600" cy="228600"/>
          </a:xfrm>
          <a:prstGeom prst="rect">
            <a:avLst/>
          </a:prstGeom>
          <a:noFill/>
        </p:spPr>
        <p:txBody>
          <a:bodyPr wrap="square" anchor="t" lIns="0" rIns="0" tIns="0" bIns="0">
            <a:spAutoFit/>
          </a:bodyPr>
          <a:lstStyle/>
          <a:p>
            <a:pPr algn="l"/>
            <a:r>
              <a:rPr sz="1100" b="0" i="0">
                <a:solidFill>
                  <a:srgbClr val="525D70"/>
                </a:solidFill>
                <a:latin typeface="Calibri"/>
              </a:rPr>
              <a:t>WhatsApp NLP &amp; Conversation Analytics Dashboard  |  MSc Data Science  |  Abhishek Vanahalli</a:t>
            </a:r>
          </a:p>
        </p:txBody>
      </p:sp>
      <p:sp>
        <p:nvSpPr>
          <p:cNvPr id="65" name="TextBox 64"/>
          <p:cNvSpPr txBox="1"/>
          <p:nvPr/>
        </p:nvSpPr>
        <p:spPr>
          <a:xfrm>
            <a:off x="10972800" y="6446520"/>
            <a:ext cx="685800" cy="228600"/>
          </a:xfrm>
          <a:prstGeom prst="rect">
            <a:avLst/>
          </a:prstGeom>
          <a:noFill/>
        </p:spPr>
        <p:txBody>
          <a:bodyPr wrap="square" anchor="t" lIns="0" rIns="0" tIns="0" bIns="0">
            <a:spAutoFit/>
          </a:bodyPr>
          <a:lstStyle/>
          <a:p>
            <a:pPr algn="r"/>
            <a:r>
              <a:rPr sz="1100" b="0" i="0">
                <a:solidFill>
                  <a:srgbClr val="525D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DF1F7"/>
        </a:solidFill>
        <a:effectLst/>
      </p:bgPr>
    </p:bg>
    <p:spTree>
      <p:nvGrpSpPr>
        <p:cNvPr id="1" name=""/>
        <p:cNvGrpSpPr/>
        <p:nvPr/>
      </p:nvGrpSpPr>
      <p:grpSpPr/>
      <p:sp>
        <p:nvSpPr>
          <p:cNvPr id="2" name="TextBox 1"/>
          <p:cNvSpPr txBox="1"/>
          <p:nvPr/>
        </p:nvSpPr>
        <p:spPr>
          <a:xfrm>
            <a:off x="548640" y="384048"/>
            <a:ext cx="9601200" cy="640080"/>
          </a:xfrm>
          <a:prstGeom prst="rect">
            <a:avLst/>
          </a:prstGeom>
          <a:noFill/>
        </p:spPr>
        <p:txBody>
          <a:bodyPr wrap="square" anchor="t" lIns="0" rIns="0" tIns="0" bIns="0">
            <a:spAutoFit/>
          </a:bodyPr>
          <a:lstStyle/>
          <a:p>
            <a:pPr algn="l"/>
            <a:r>
              <a:rPr sz="3600" b="1" i="0">
                <a:solidFill>
                  <a:srgbClr val="172033"/>
                </a:solidFill>
                <a:latin typeface="Calibri"/>
              </a:rPr>
              <a:t>Interactive Dashboard</a:t>
            </a:r>
          </a:p>
        </p:txBody>
      </p:sp>
      <p:sp>
        <p:nvSpPr>
          <p:cNvPr id="3" name="TextBox 2"/>
          <p:cNvSpPr txBox="1"/>
          <p:nvPr/>
        </p:nvSpPr>
        <p:spPr>
          <a:xfrm>
            <a:off x="548640" y="987552"/>
            <a:ext cx="10515600" cy="365760"/>
          </a:xfrm>
          <a:prstGeom prst="rect">
            <a:avLst/>
          </a:prstGeom>
          <a:noFill/>
        </p:spPr>
        <p:txBody>
          <a:bodyPr wrap="square" anchor="t" lIns="0" rIns="0" tIns="0" bIns="0">
            <a:spAutoFit/>
          </a:bodyPr>
          <a:lstStyle/>
          <a:p>
            <a:pPr algn="l"/>
            <a:r>
              <a:rPr sz="1600" b="0" i="0">
                <a:solidFill>
                  <a:srgbClr val="525D70"/>
                </a:solidFill>
                <a:latin typeface="Calibri"/>
              </a:rPr>
              <a:t>Streamlit + Plotly academic prototype; upload-driven, session-based analysis</a:t>
            </a:r>
          </a:p>
        </p:txBody>
      </p:sp>
      <p:sp>
        <p:nvSpPr>
          <p:cNvPr id="4" name="Rounded Rectangle 3"/>
          <p:cNvSpPr/>
          <p:nvPr/>
        </p:nvSpPr>
        <p:spPr>
          <a:xfrm>
            <a:off x="548640" y="1508760"/>
            <a:ext cx="8046719" cy="4142105"/>
          </a:xfrm>
          <a:prstGeom prst="roundRect">
            <a:avLst>
              <a:gd name="adj" fmla="val 25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verview_top.png"/>
          <p:cNvPicPr>
            <a:picLocks noChangeAspect="1"/>
          </p:cNvPicPr>
          <p:nvPr/>
        </p:nvPicPr>
        <p:blipFill>
          <a:blip r:embed="rId3"/>
          <a:stretch>
            <a:fillRect/>
          </a:stretch>
        </p:blipFill>
        <p:spPr>
          <a:xfrm>
            <a:off x="640080" y="1600200"/>
            <a:ext cx="7863840" cy="3959224"/>
          </a:xfrm>
          <a:prstGeom prst="rect">
            <a:avLst/>
          </a:prstGeom>
        </p:spPr>
      </p:pic>
      <p:sp>
        <p:nvSpPr>
          <p:cNvPr id="6" name="TextBox 5"/>
          <p:cNvSpPr txBox="1"/>
          <p:nvPr/>
        </p:nvSpPr>
        <p:spPr>
          <a:xfrm>
            <a:off x="640080" y="5760592"/>
            <a:ext cx="7863840" cy="274320"/>
          </a:xfrm>
          <a:prstGeom prst="rect">
            <a:avLst/>
          </a:prstGeom>
          <a:noFill/>
        </p:spPr>
        <p:txBody>
          <a:bodyPr wrap="square" anchor="t" lIns="0" rIns="0" tIns="0" bIns="0">
            <a:spAutoFit/>
          </a:bodyPr>
          <a:lstStyle/>
          <a:p>
            <a:pPr algn="l"/>
            <a:r>
              <a:rPr sz="1200" b="0" i="1">
                <a:solidFill>
                  <a:srgbClr val="525D70"/>
                </a:solidFill>
                <a:latin typeface="Calibri"/>
              </a:rPr>
              <a:t>Overview page loaded with the fictional sample chat (12 invented participants)</a:t>
            </a:r>
          </a:p>
        </p:txBody>
      </p:sp>
      <p:sp>
        <p:nvSpPr>
          <p:cNvPr id="7" name="Rounded Rectangle 6"/>
          <p:cNvSpPr/>
          <p:nvPr/>
        </p:nvSpPr>
        <p:spPr>
          <a:xfrm>
            <a:off x="8915400" y="1508760"/>
            <a:ext cx="2743200" cy="914400"/>
          </a:xfrm>
          <a:prstGeom prst="roundRect">
            <a:avLst>
              <a:gd name="adj" fmla="val 10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98280" y="1600200"/>
            <a:ext cx="2468880" cy="274320"/>
          </a:xfrm>
          <a:prstGeom prst="rect">
            <a:avLst/>
          </a:prstGeom>
          <a:noFill/>
        </p:spPr>
        <p:txBody>
          <a:bodyPr wrap="square" anchor="t" lIns="0" rIns="0" tIns="0" bIns="0">
            <a:spAutoFit/>
          </a:bodyPr>
          <a:lstStyle/>
          <a:p>
            <a:pPr algn="l"/>
            <a:r>
              <a:rPr sz="1600" b="1" i="0">
                <a:solidFill>
                  <a:srgbClr val="1E5AE0"/>
                </a:solidFill>
                <a:latin typeface="Calibri"/>
              </a:rPr>
              <a:t>Overview</a:t>
            </a:r>
          </a:p>
        </p:txBody>
      </p:sp>
      <p:sp>
        <p:nvSpPr>
          <p:cNvPr id="9" name="TextBox 8"/>
          <p:cNvSpPr txBox="1"/>
          <p:nvPr/>
        </p:nvSpPr>
        <p:spPr>
          <a:xfrm>
            <a:off x="9098280" y="1892807"/>
            <a:ext cx="2423160" cy="502920"/>
          </a:xfrm>
          <a:prstGeom prst="rect">
            <a:avLst/>
          </a:prstGeom>
          <a:noFill/>
        </p:spPr>
        <p:txBody>
          <a:bodyPr wrap="square" anchor="t" lIns="0" rIns="0" tIns="0" bIns="0">
            <a:spAutoFit/>
          </a:bodyPr>
          <a:lstStyle/>
          <a:p>
            <a:pPr algn="l"/>
            <a:r>
              <a:rPr sz="1200" b="0" i="0">
                <a:solidFill>
                  <a:srgbClr val="525D70"/>
                </a:solidFill>
                <a:latin typeface="Calibri"/>
              </a:rPr>
              <a:t>key figures, daily activity, composition, key findings</a:t>
            </a:r>
          </a:p>
        </p:txBody>
      </p:sp>
      <p:sp>
        <p:nvSpPr>
          <p:cNvPr id="10" name="Rounded Rectangle 9"/>
          <p:cNvSpPr/>
          <p:nvPr/>
        </p:nvSpPr>
        <p:spPr>
          <a:xfrm>
            <a:off x="8915400" y="2532888"/>
            <a:ext cx="2743200" cy="914400"/>
          </a:xfrm>
          <a:prstGeom prst="roundRect">
            <a:avLst>
              <a:gd name="adj" fmla="val 10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2624328"/>
            <a:ext cx="2468880" cy="274320"/>
          </a:xfrm>
          <a:prstGeom prst="rect">
            <a:avLst/>
          </a:prstGeom>
          <a:noFill/>
        </p:spPr>
        <p:txBody>
          <a:bodyPr wrap="square" anchor="t" lIns="0" rIns="0" tIns="0" bIns="0">
            <a:spAutoFit/>
          </a:bodyPr>
          <a:lstStyle/>
          <a:p>
            <a:pPr algn="l"/>
            <a:r>
              <a:rPr sz="1600" b="1" i="0">
                <a:solidFill>
                  <a:srgbClr val="08766A"/>
                </a:solidFill>
                <a:latin typeface="Calibri"/>
              </a:rPr>
              <a:t>Conversation</a:t>
            </a:r>
          </a:p>
        </p:txBody>
      </p:sp>
      <p:sp>
        <p:nvSpPr>
          <p:cNvPr id="12" name="TextBox 11"/>
          <p:cNvSpPr txBox="1"/>
          <p:nvPr/>
        </p:nvSpPr>
        <p:spPr>
          <a:xfrm>
            <a:off x="9098280" y="2916936"/>
            <a:ext cx="2423160" cy="502920"/>
          </a:xfrm>
          <a:prstGeom prst="rect">
            <a:avLst/>
          </a:prstGeom>
          <a:noFill/>
        </p:spPr>
        <p:txBody>
          <a:bodyPr wrap="square" anchor="t" lIns="0" rIns="0" tIns="0" bIns="0">
            <a:spAutoFit/>
          </a:bodyPr>
          <a:lstStyle/>
          <a:p>
            <a:pPr algn="l"/>
            <a:r>
              <a:rPr sz="1200" b="0" i="0">
                <a:solidFill>
                  <a:srgbClr val="525D70"/>
                </a:solidFill>
                <a:latin typeface="Calibri"/>
              </a:rPr>
              <a:t>activity, composition, repetition, hour and weekday tables</a:t>
            </a:r>
          </a:p>
        </p:txBody>
      </p:sp>
      <p:sp>
        <p:nvSpPr>
          <p:cNvPr id="13" name="Rounded Rectangle 12"/>
          <p:cNvSpPr/>
          <p:nvPr/>
        </p:nvSpPr>
        <p:spPr>
          <a:xfrm>
            <a:off x="8915400" y="3557016"/>
            <a:ext cx="2743200" cy="914400"/>
          </a:xfrm>
          <a:prstGeom prst="roundRect">
            <a:avLst>
              <a:gd name="adj" fmla="val 10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3648456"/>
            <a:ext cx="2468880" cy="274320"/>
          </a:xfrm>
          <a:prstGeom prst="rect">
            <a:avLst/>
          </a:prstGeom>
          <a:noFill/>
        </p:spPr>
        <p:txBody>
          <a:bodyPr wrap="square" anchor="t" lIns="0" rIns="0" tIns="0" bIns="0">
            <a:spAutoFit/>
          </a:bodyPr>
          <a:lstStyle/>
          <a:p>
            <a:pPr algn="l"/>
            <a:r>
              <a:rPr sz="1600" b="1" i="0">
                <a:solidFill>
                  <a:srgbClr val="6240C8"/>
                </a:solidFill>
                <a:latin typeface="Calibri"/>
              </a:rPr>
              <a:t>NLP Insights</a:t>
            </a:r>
          </a:p>
        </p:txBody>
      </p:sp>
      <p:sp>
        <p:nvSpPr>
          <p:cNvPr id="15" name="TextBox 14"/>
          <p:cNvSpPr txBox="1"/>
          <p:nvPr/>
        </p:nvSpPr>
        <p:spPr>
          <a:xfrm>
            <a:off x="9098280" y="3941064"/>
            <a:ext cx="2423160" cy="502920"/>
          </a:xfrm>
          <a:prstGeom prst="rect">
            <a:avLst/>
          </a:prstGeom>
          <a:noFill/>
        </p:spPr>
        <p:txBody>
          <a:bodyPr wrap="square" anchor="t" lIns="0" rIns="0" tIns="0" bIns="0">
            <a:spAutoFit/>
          </a:bodyPr>
          <a:lstStyle/>
          <a:p>
            <a:pPr algn="l"/>
            <a:r>
              <a:rPr sz="1200" b="0" i="0">
                <a:solidFill>
                  <a:srgbClr val="525D70"/>
                </a:solidFill>
                <a:latin typeface="Calibri"/>
              </a:rPr>
              <a:t>six tabs: n-grams, TF-IDF, Script Mix, Key Terms</a:t>
            </a:r>
          </a:p>
        </p:txBody>
      </p:sp>
      <p:sp>
        <p:nvSpPr>
          <p:cNvPr id="16" name="Rounded Rectangle 15"/>
          <p:cNvSpPr/>
          <p:nvPr/>
        </p:nvSpPr>
        <p:spPr>
          <a:xfrm>
            <a:off x="8915400" y="4581144"/>
            <a:ext cx="2743200" cy="914400"/>
          </a:xfrm>
          <a:prstGeom prst="roundRect">
            <a:avLst>
              <a:gd name="adj" fmla="val 10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4672583"/>
            <a:ext cx="2468880" cy="274320"/>
          </a:xfrm>
          <a:prstGeom prst="rect">
            <a:avLst/>
          </a:prstGeom>
          <a:noFill/>
        </p:spPr>
        <p:txBody>
          <a:bodyPr wrap="square" anchor="t" lIns="0" rIns="0" tIns="0" bIns="0">
            <a:spAutoFit/>
          </a:bodyPr>
          <a:lstStyle/>
          <a:p>
            <a:pPr algn="l"/>
            <a:r>
              <a:rPr sz="1600" b="1" i="0">
                <a:solidFill>
                  <a:srgbClr val="BF5410"/>
                </a:solidFill>
                <a:latin typeface="Calibri"/>
              </a:rPr>
              <a:t>Patterns</a:t>
            </a:r>
          </a:p>
        </p:txBody>
      </p:sp>
      <p:sp>
        <p:nvSpPr>
          <p:cNvPr id="18" name="TextBox 17"/>
          <p:cNvSpPr txBox="1"/>
          <p:nvPr/>
        </p:nvSpPr>
        <p:spPr>
          <a:xfrm>
            <a:off x="9098280" y="4965192"/>
            <a:ext cx="2423160" cy="502920"/>
          </a:xfrm>
          <a:prstGeom prst="rect">
            <a:avLst/>
          </a:prstGeom>
          <a:noFill/>
        </p:spPr>
        <p:txBody>
          <a:bodyPr wrap="square" anchor="t" lIns="0" rIns="0" tIns="0" bIns="0">
            <a:spAutoFit/>
          </a:bodyPr>
          <a:lstStyle/>
          <a:p>
            <a:pPr algn="l"/>
            <a:r>
              <a:rPr sz="1200" b="0" i="0">
                <a:solidFill>
                  <a:srgbClr val="525D70"/>
                </a:solidFill>
                <a:latin typeface="Calibri"/>
              </a:rPr>
              <a:t>repetition summary and anonymous templates</a:t>
            </a:r>
          </a:p>
        </p:txBody>
      </p:sp>
      <p:sp>
        <p:nvSpPr>
          <p:cNvPr id="19" name="Rounded Rectangle 18"/>
          <p:cNvSpPr/>
          <p:nvPr/>
        </p:nvSpPr>
        <p:spPr>
          <a:xfrm>
            <a:off x="640080" y="6035040"/>
            <a:ext cx="1920240" cy="310896"/>
          </a:xfrm>
          <a:prstGeom prst="roundRect">
            <a:avLst>
              <a:gd name="adj" fmla="val 50000"/>
            </a:avLst>
          </a:prstGeom>
          <a:solidFill>
            <a:srgbClr val="D9F1E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08766A"/>
                </a:solidFill>
                <a:latin typeface="Calibri"/>
              </a:rPr>
              <a:t>Privacy-conscious display</a:t>
            </a:r>
          </a:p>
        </p:txBody>
      </p:sp>
      <p:sp>
        <p:nvSpPr>
          <p:cNvPr id="20" name="Rounded Rectangle 19"/>
          <p:cNvSpPr/>
          <p:nvPr/>
        </p:nvSpPr>
        <p:spPr>
          <a:xfrm>
            <a:off x="2697480" y="6035040"/>
            <a:ext cx="1737360" cy="310896"/>
          </a:xfrm>
          <a:prstGeom prst="roundRect">
            <a:avLst>
              <a:gd name="adj" fmla="val 50000"/>
            </a:avLst>
          </a:prstGeom>
          <a:solidFill>
            <a:srgbClr val="E1EBF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1E5AE0"/>
                </a:solidFill>
                <a:latin typeface="Calibri"/>
              </a:rPr>
              <a:t>Anonymised download</a:t>
            </a:r>
          </a:p>
        </p:txBody>
      </p:sp>
      <p:sp>
        <p:nvSpPr>
          <p:cNvPr id="21" name="Rounded Rectangle 20"/>
          <p:cNvSpPr/>
          <p:nvPr/>
        </p:nvSpPr>
        <p:spPr>
          <a:xfrm>
            <a:off x="4572000" y="6035040"/>
            <a:ext cx="1828800" cy="310896"/>
          </a:xfrm>
          <a:prstGeom prst="roundRect">
            <a:avLst>
              <a:gd name="adj" fmla="val 50000"/>
            </a:avLst>
          </a:prstGeom>
          <a:solidFill>
            <a:srgbClr val="EBE5F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6240C8"/>
                </a:solidFill>
                <a:latin typeface="Calibri"/>
              </a:rPr>
              <a:t>Optional theme image</a:t>
            </a:r>
          </a:p>
        </p:txBody>
      </p:sp>
      <p:sp>
        <p:nvSpPr>
          <p:cNvPr id="22" name="TextBox 21"/>
          <p:cNvSpPr txBox="1"/>
          <p:nvPr/>
        </p:nvSpPr>
        <p:spPr>
          <a:xfrm>
            <a:off x="548640" y="6446520"/>
            <a:ext cx="8229600" cy="228600"/>
          </a:xfrm>
          <a:prstGeom prst="rect">
            <a:avLst/>
          </a:prstGeom>
          <a:noFill/>
        </p:spPr>
        <p:txBody>
          <a:bodyPr wrap="square" anchor="t" lIns="0" rIns="0" tIns="0" bIns="0">
            <a:spAutoFit/>
          </a:bodyPr>
          <a:lstStyle/>
          <a:p>
            <a:pPr algn="l"/>
            <a:r>
              <a:rPr sz="1100" b="0" i="0">
                <a:solidFill>
                  <a:srgbClr val="525D70"/>
                </a:solidFill>
                <a:latin typeface="Calibri"/>
              </a:rPr>
              <a:t>WhatsApp NLP &amp; Conversation Analytics Dashboard  |  MSc Data Science  |  Abhishek Vanahalli</a:t>
            </a:r>
          </a:p>
        </p:txBody>
      </p:sp>
      <p:sp>
        <p:nvSpPr>
          <p:cNvPr id="23" name="TextBox 22"/>
          <p:cNvSpPr txBox="1"/>
          <p:nvPr/>
        </p:nvSpPr>
        <p:spPr>
          <a:xfrm>
            <a:off x="10972800" y="6446520"/>
            <a:ext cx="685800" cy="228600"/>
          </a:xfrm>
          <a:prstGeom prst="rect">
            <a:avLst/>
          </a:prstGeom>
          <a:noFill/>
        </p:spPr>
        <p:txBody>
          <a:bodyPr wrap="square" anchor="t" lIns="0" rIns="0" tIns="0" bIns="0">
            <a:spAutoFit/>
          </a:bodyPr>
          <a:lstStyle/>
          <a:p>
            <a:pPr algn="r"/>
            <a:r>
              <a:rPr sz="1100" b="0" i="0">
                <a:solidFill>
                  <a:srgbClr val="525D7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DF1F7"/>
        </a:solidFill>
        <a:effectLst/>
      </p:bgPr>
    </p:bg>
    <p:spTree>
      <p:nvGrpSpPr>
        <p:cNvPr id="1" name=""/>
        <p:cNvGrpSpPr/>
        <p:nvPr/>
      </p:nvGrpSpPr>
      <p:grpSpPr/>
      <p:sp>
        <p:nvSpPr>
          <p:cNvPr id="2" name="TextBox 1"/>
          <p:cNvSpPr txBox="1"/>
          <p:nvPr/>
        </p:nvSpPr>
        <p:spPr>
          <a:xfrm>
            <a:off x="548640" y="384048"/>
            <a:ext cx="9601200" cy="640080"/>
          </a:xfrm>
          <a:prstGeom prst="rect">
            <a:avLst/>
          </a:prstGeom>
          <a:noFill/>
        </p:spPr>
        <p:txBody>
          <a:bodyPr wrap="square" anchor="t" lIns="0" rIns="0" tIns="0" bIns="0">
            <a:spAutoFit/>
          </a:bodyPr>
          <a:lstStyle/>
          <a:p>
            <a:pPr algn="l"/>
            <a:r>
              <a:rPr sz="3600" b="1" i="0">
                <a:solidFill>
                  <a:srgbClr val="172033"/>
                </a:solidFill>
                <a:latin typeface="Calibri"/>
              </a:rPr>
              <a:t>Validation &amp; Limitations</a:t>
            </a:r>
          </a:p>
        </p:txBody>
      </p:sp>
      <p:sp>
        <p:nvSpPr>
          <p:cNvPr id="3" name="TextBox 2"/>
          <p:cNvSpPr txBox="1"/>
          <p:nvPr/>
        </p:nvSpPr>
        <p:spPr>
          <a:xfrm>
            <a:off x="548640" y="987552"/>
            <a:ext cx="10515600" cy="365760"/>
          </a:xfrm>
          <a:prstGeom prst="rect">
            <a:avLst/>
          </a:prstGeom>
          <a:noFill/>
        </p:spPr>
        <p:txBody>
          <a:bodyPr wrap="square" anchor="t" lIns="0" rIns="0" tIns="0" bIns="0">
            <a:spAutoFit/>
          </a:bodyPr>
          <a:lstStyle/>
          <a:p>
            <a:pPr algn="l"/>
            <a:r>
              <a:rPr sz="1600" b="0" i="0">
                <a:solidFill>
                  <a:srgbClr val="525D70"/>
                </a:solidFill>
                <a:latin typeface="Calibri"/>
              </a:rPr>
              <a:t>What was checked, and what the results do not show</a:t>
            </a:r>
          </a:p>
        </p:txBody>
      </p:sp>
      <p:sp>
        <p:nvSpPr>
          <p:cNvPr id="4" name="Rounded Rectangle 3"/>
          <p:cNvSpPr/>
          <p:nvPr/>
        </p:nvSpPr>
        <p:spPr>
          <a:xfrm>
            <a:off x="548640" y="1600200"/>
            <a:ext cx="3611880" cy="452628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10512"/>
            <a:ext cx="1554480" cy="310896"/>
          </a:xfrm>
          <a:prstGeom prst="roundRect">
            <a:avLst>
              <a:gd name="adj" fmla="val 50000"/>
            </a:avLst>
          </a:prstGeom>
          <a:solidFill>
            <a:srgbClr val="E1EBF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1E5AE0"/>
                </a:solidFill>
                <a:latin typeface="Calibri"/>
              </a:rPr>
              <a:t>VALIDATION</a:t>
            </a:r>
          </a:p>
        </p:txBody>
      </p:sp>
      <p:sp>
        <p:nvSpPr>
          <p:cNvPr id="6" name="Oval 5"/>
          <p:cNvSpPr/>
          <p:nvPr/>
        </p:nvSpPr>
        <p:spPr>
          <a:xfrm>
            <a:off x="804672" y="2441448"/>
            <a:ext cx="137160" cy="137160"/>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359152"/>
            <a:ext cx="2880360" cy="658368"/>
          </a:xfrm>
          <a:prstGeom prst="rect">
            <a:avLst/>
          </a:prstGeom>
          <a:noFill/>
        </p:spPr>
        <p:txBody>
          <a:bodyPr wrap="square" anchor="t" lIns="0" rIns="0" tIns="0" bIns="0">
            <a:spAutoFit/>
          </a:bodyPr>
          <a:lstStyle/>
          <a:p>
            <a:pPr algn="l"/>
            <a:r>
              <a:rPr sz="1500" b="0" i="0">
                <a:solidFill>
                  <a:srgbClr val="172033"/>
                </a:solidFill>
                <a:latin typeface="Calibri"/>
              </a:rPr>
              <a:t>304 tests passed in a clean clone</a:t>
            </a:r>
          </a:p>
        </p:txBody>
      </p:sp>
      <p:sp>
        <p:nvSpPr>
          <p:cNvPr id="8" name="Oval 7"/>
          <p:cNvSpPr/>
          <p:nvPr/>
        </p:nvSpPr>
        <p:spPr>
          <a:xfrm>
            <a:off x="804672" y="3172968"/>
            <a:ext cx="137160" cy="137160"/>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090672"/>
            <a:ext cx="2880360" cy="658368"/>
          </a:xfrm>
          <a:prstGeom prst="rect">
            <a:avLst/>
          </a:prstGeom>
          <a:noFill/>
        </p:spPr>
        <p:txBody>
          <a:bodyPr wrap="square" anchor="t" lIns="0" rIns="0" tIns="0" bIns="0">
            <a:spAutoFit/>
          </a:bodyPr>
          <a:lstStyle/>
          <a:p>
            <a:pPr algn="l"/>
            <a:r>
              <a:rPr sz="1500" b="0" i="0">
                <a:solidFill>
                  <a:srgbClr val="172033"/>
                </a:solidFill>
                <a:latin typeface="Calibri"/>
              </a:rPr>
              <a:t>308 tests locally (4 are local-only)</a:t>
            </a:r>
          </a:p>
        </p:txBody>
      </p:sp>
      <p:sp>
        <p:nvSpPr>
          <p:cNvPr id="10" name="Oval 9"/>
          <p:cNvSpPr/>
          <p:nvPr/>
        </p:nvSpPr>
        <p:spPr>
          <a:xfrm>
            <a:off x="804672" y="3904487"/>
            <a:ext cx="137160" cy="137160"/>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22191"/>
            <a:ext cx="2880360" cy="658368"/>
          </a:xfrm>
          <a:prstGeom prst="rect">
            <a:avLst/>
          </a:prstGeom>
          <a:noFill/>
        </p:spPr>
        <p:txBody>
          <a:bodyPr wrap="square" anchor="t" lIns="0" rIns="0" tIns="0" bIns="0">
            <a:spAutoFit/>
          </a:bodyPr>
          <a:lstStyle/>
          <a:p>
            <a:pPr algn="l"/>
            <a:r>
              <a:rPr sz="1500" b="0" i="0">
                <a:solidFill>
                  <a:srgbClr val="172033"/>
                </a:solidFill>
                <a:latin typeface="Calibri"/>
              </a:rPr>
              <a:t>28 reconciliation checks</a:t>
            </a:r>
          </a:p>
        </p:txBody>
      </p:sp>
      <p:sp>
        <p:nvSpPr>
          <p:cNvPr id="12" name="Oval 11"/>
          <p:cNvSpPr/>
          <p:nvPr/>
        </p:nvSpPr>
        <p:spPr>
          <a:xfrm>
            <a:off x="804672" y="4636008"/>
            <a:ext cx="137160" cy="137160"/>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553712"/>
            <a:ext cx="2880360" cy="658368"/>
          </a:xfrm>
          <a:prstGeom prst="rect">
            <a:avLst/>
          </a:prstGeom>
          <a:noFill/>
        </p:spPr>
        <p:txBody>
          <a:bodyPr wrap="square" anchor="t" lIns="0" rIns="0" tIns="0" bIns="0">
            <a:spAutoFit/>
          </a:bodyPr>
          <a:lstStyle/>
          <a:p>
            <a:pPr algn="l"/>
            <a:r>
              <a:rPr sz="1500" b="0" i="0">
                <a:solidFill>
                  <a:srgbClr val="172033"/>
                </a:solidFill>
                <a:latin typeface="Calibri"/>
              </a:rPr>
              <a:t>TF-IDF vs scikit-learn: max difference about 1.1 × 10⁻¹⁶</a:t>
            </a:r>
          </a:p>
        </p:txBody>
      </p:sp>
      <p:sp>
        <p:nvSpPr>
          <p:cNvPr id="14" name="Oval 13"/>
          <p:cNvSpPr/>
          <p:nvPr/>
        </p:nvSpPr>
        <p:spPr>
          <a:xfrm>
            <a:off x="804672" y="5367528"/>
            <a:ext cx="137160" cy="137160"/>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880360" cy="658368"/>
          </a:xfrm>
          <a:prstGeom prst="rect">
            <a:avLst/>
          </a:prstGeom>
          <a:noFill/>
        </p:spPr>
        <p:txBody>
          <a:bodyPr wrap="square" anchor="t" lIns="0" rIns="0" tIns="0" bIns="0">
            <a:spAutoFit/>
          </a:bodyPr>
          <a:lstStyle/>
          <a:p>
            <a:pPr algn="l"/>
            <a:r>
              <a:rPr sz="1500" b="0" i="0">
                <a:solidFill>
                  <a:srgbClr val="172033"/>
                </a:solidFill>
                <a:latin typeface="Calibri"/>
              </a:rPr>
              <a:t>Committed outputs reproduced</a:t>
            </a:r>
          </a:p>
        </p:txBody>
      </p:sp>
      <p:sp>
        <p:nvSpPr>
          <p:cNvPr id="16" name="Rounded Rectangle 15"/>
          <p:cNvSpPr/>
          <p:nvPr/>
        </p:nvSpPr>
        <p:spPr>
          <a:xfrm>
            <a:off x="4343400" y="1600200"/>
            <a:ext cx="3611880" cy="452628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1810512"/>
            <a:ext cx="1554480" cy="310896"/>
          </a:xfrm>
          <a:prstGeom prst="roundRect">
            <a:avLst>
              <a:gd name="adj" fmla="val 50000"/>
            </a:avLst>
          </a:prstGeom>
          <a:solidFill>
            <a:srgbClr val="D9F1E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08766A"/>
                </a:solidFill>
                <a:latin typeface="Calibri"/>
              </a:rPr>
              <a:t>PRIVACY</a:t>
            </a:r>
          </a:p>
        </p:txBody>
      </p:sp>
      <p:sp>
        <p:nvSpPr>
          <p:cNvPr id="18" name="Oval 17"/>
          <p:cNvSpPr/>
          <p:nvPr/>
        </p:nvSpPr>
        <p:spPr>
          <a:xfrm>
            <a:off x="4599432" y="2441448"/>
            <a:ext cx="137160" cy="137160"/>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2040" y="2359152"/>
            <a:ext cx="2880360" cy="658368"/>
          </a:xfrm>
          <a:prstGeom prst="rect">
            <a:avLst/>
          </a:prstGeom>
          <a:noFill/>
        </p:spPr>
        <p:txBody>
          <a:bodyPr wrap="square" anchor="t" lIns="0" rIns="0" tIns="0" bIns="0">
            <a:spAutoFit/>
          </a:bodyPr>
          <a:lstStyle/>
          <a:p>
            <a:pPr algn="l"/>
            <a:r>
              <a:rPr sz="1500" b="0" i="0">
                <a:solidFill>
                  <a:srgbClr val="172033"/>
                </a:solidFill>
                <a:latin typeface="Calibri"/>
              </a:rPr>
              <a:t>Fictional public dataset</a:t>
            </a:r>
          </a:p>
        </p:txBody>
      </p:sp>
      <p:sp>
        <p:nvSpPr>
          <p:cNvPr id="20" name="Oval 19"/>
          <p:cNvSpPr/>
          <p:nvPr/>
        </p:nvSpPr>
        <p:spPr>
          <a:xfrm>
            <a:off x="4599432" y="3172968"/>
            <a:ext cx="137160" cy="137160"/>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92040" y="3090672"/>
            <a:ext cx="2880360" cy="658368"/>
          </a:xfrm>
          <a:prstGeom prst="rect">
            <a:avLst/>
          </a:prstGeom>
          <a:noFill/>
        </p:spPr>
        <p:txBody>
          <a:bodyPr wrap="square" anchor="t" lIns="0" rIns="0" tIns="0" bIns="0">
            <a:spAutoFit/>
          </a:bodyPr>
          <a:lstStyle/>
          <a:p>
            <a:pPr algn="l"/>
            <a:r>
              <a:rPr sz="1500" b="0" i="0">
                <a:solidFill>
                  <a:srgbClr val="172033"/>
                </a:solidFill>
                <a:latin typeface="Calibri"/>
              </a:rPr>
              <a:t>Private chat excluded from the repository</a:t>
            </a:r>
          </a:p>
        </p:txBody>
      </p:sp>
      <p:sp>
        <p:nvSpPr>
          <p:cNvPr id="22" name="Oval 21"/>
          <p:cNvSpPr/>
          <p:nvPr/>
        </p:nvSpPr>
        <p:spPr>
          <a:xfrm>
            <a:off x="4599432" y="3904487"/>
            <a:ext cx="137160" cy="137160"/>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92040" y="3822191"/>
            <a:ext cx="2880360" cy="658368"/>
          </a:xfrm>
          <a:prstGeom prst="rect">
            <a:avLst/>
          </a:prstGeom>
          <a:noFill/>
        </p:spPr>
        <p:txBody>
          <a:bodyPr wrap="square" anchor="t" lIns="0" rIns="0" tIns="0" bIns="0">
            <a:spAutoFit/>
          </a:bodyPr>
          <a:lstStyle/>
          <a:p>
            <a:pPr algn="l"/>
            <a:r>
              <a:rPr sz="1500" b="0" i="0">
                <a:solidFill>
                  <a:srgbClr val="172033"/>
                </a:solidFill>
                <a:latin typeface="Calibri"/>
              </a:rPr>
              <a:t>Privacy and display filtering</a:t>
            </a:r>
          </a:p>
        </p:txBody>
      </p:sp>
      <p:sp>
        <p:nvSpPr>
          <p:cNvPr id="24" name="Oval 23"/>
          <p:cNvSpPr/>
          <p:nvPr/>
        </p:nvSpPr>
        <p:spPr>
          <a:xfrm>
            <a:off x="4599432" y="4636008"/>
            <a:ext cx="137160" cy="137160"/>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92040" y="4553712"/>
            <a:ext cx="2880360" cy="658368"/>
          </a:xfrm>
          <a:prstGeom prst="rect">
            <a:avLst/>
          </a:prstGeom>
          <a:noFill/>
        </p:spPr>
        <p:txBody>
          <a:bodyPr wrap="square" anchor="t" lIns="0" rIns="0" tIns="0" bIns="0">
            <a:spAutoFit/>
          </a:bodyPr>
          <a:lstStyle/>
          <a:p>
            <a:pPr algn="l"/>
            <a:r>
              <a:rPr sz="1500" b="0" i="0">
                <a:solidFill>
                  <a:srgbClr val="172033"/>
                </a:solidFill>
                <a:latin typeface="Calibri"/>
              </a:rPr>
              <a:t>Repository privacy scan</a:t>
            </a:r>
          </a:p>
        </p:txBody>
      </p:sp>
      <p:sp>
        <p:nvSpPr>
          <p:cNvPr id="26" name="Oval 25"/>
          <p:cNvSpPr/>
          <p:nvPr/>
        </p:nvSpPr>
        <p:spPr>
          <a:xfrm>
            <a:off x="4599432" y="5367528"/>
            <a:ext cx="137160" cy="137160"/>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92040" y="5285232"/>
            <a:ext cx="2880360" cy="658368"/>
          </a:xfrm>
          <a:prstGeom prst="rect">
            <a:avLst/>
          </a:prstGeom>
          <a:noFill/>
        </p:spPr>
        <p:txBody>
          <a:bodyPr wrap="square" anchor="t" lIns="0" rIns="0" tIns="0" bIns="0">
            <a:spAutoFit/>
          </a:bodyPr>
          <a:lstStyle/>
          <a:p>
            <a:pPr algn="l"/>
            <a:r>
              <a:rPr sz="1500" b="0" i="0">
                <a:solidFill>
                  <a:srgbClr val="172033"/>
                </a:solidFill>
                <a:latin typeface="Calibri"/>
              </a:rPr>
              <a:t>No private chat results shown publicly</a:t>
            </a:r>
          </a:p>
        </p:txBody>
      </p:sp>
      <p:sp>
        <p:nvSpPr>
          <p:cNvPr id="28" name="Rounded Rectangle 27"/>
          <p:cNvSpPr/>
          <p:nvPr/>
        </p:nvSpPr>
        <p:spPr>
          <a:xfrm>
            <a:off x="8138160" y="1600200"/>
            <a:ext cx="3611880" cy="452628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66760" y="1810512"/>
            <a:ext cx="1554480" cy="310896"/>
          </a:xfrm>
          <a:prstGeom prst="roundRect">
            <a:avLst>
              <a:gd name="adj" fmla="val 50000"/>
            </a:avLst>
          </a:prstGeom>
          <a:solidFill>
            <a:srgbClr val="FCE6D4"/>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BF5410"/>
                </a:solidFill>
                <a:latin typeface="Calibri"/>
              </a:rPr>
              <a:t>LIMITATIONS</a:t>
            </a:r>
          </a:p>
        </p:txBody>
      </p:sp>
      <p:sp>
        <p:nvSpPr>
          <p:cNvPr id="30" name="Oval 29"/>
          <p:cNvSpPr/>
          <p:nvPr/>
        </p:nvSpPr>
        <p:spPr>
          <a:xfrm>
            <a:off x="8394192" y="2441448"/>
            <a:ext cx="137160" cy="137160"/>
          </a:xfrm>
          <a:prstGeom prst="ellipse">
            <a:avLst/>
          </a:prstGeom>
          <a:solidFill>
            <a:srgbClr val="BF5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0" y="2359152"/>
            <a:ext cx="2880360" cy="658368"/>
          </a:xfrm>
          <a:prstGeom prst="rect">
            <a:avLst/>
          </a:prstGeom>
          <a:noFill/>
        </p:spPr>
        <p:txBody>
          <a:bodyPr wrap="square" anchor="t" lIns="0" rIns="0" tIns="0" bIns="0">
            <a:spAutoFit/>
          </a:bodyPr>
          <a:lstStyle/>
          <a:p>
            <a:pPr algn="l"/>
            <a:r>
              <a:rPr sz="1500" b="0" i="0">
                <a:solidFill>
                  <a:srgbClr val="172033"/>
                </a:solidFill>
                <a:latin typeface="Calibri"/>
              </a:rPr>
              <a:t>Supported export format is limited</a:t>
            </a:r>
          </a:p>
        </p:txBody>
      </p:sp>
      <p:sp>
        <p:nvSpPr>
          <p:cNvPr id="32" name="Oval 31"/>
          <p:cNvSpPr/>
          <p:nvPr/>
        </p:nvSpPr>
        <p:spPr>
          <a:xfrm>
            <a:off x="8394192" y="3172968"/>
            <a:ext cx="137160" cy="137160"/>
          </a:xfrm>
          <a:prstGeom prst="ellipse">
            <a:avLst/>
          </a:prstGeom>
          <a:solidFill>
            <a:srgbClr val="BF5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0" y="3090672"/>
            <a:ext cx="2880360" cy="658368"/>
          </a:xfrm>
          <a:prstGeom prst="rect">
            <a:avLst/>
          </a:prstGeom>
          <a:noFill/>
        </p:spPr>
        <p:txBody>
          <a:bodyPr wrap="square" anchor="t" lIns="0" rIns="0" tIns="0" bIns="0">
            <a:spAutoFit/>
          </a:bodyPr>
          <a:lstStyle/>
          <a:p>
            <a:pPr algn="l"/>
            <a:r>
              <a:rPr sz="1500" b="0" i="0">
                <a:solidFill>
                  <a:srgbClr val="172033"/>
                </a:solidFill>
                <a:latin typeface="Calibri"/>
              </a:rPr>
              <a:t>Android / no-bracket formats unsupported</a:t>
            </a:r>
          </a:p>
        </p:txBody>
      </p:sp>
      <p:sp>
        <p:nvSpPr>
          <p:cNvPr id="34" name="Oval 33"/>
          <p:cNvSpPr/>
          <p:nvPr/>
        </p:nvSpPr>
        <p:spPr>
          <a:xfrm>
            <a:off x="8394192" y="3904487"/>
            <a:ext cx="137160" cy="137160"/>
          </a:xfrm>
          <a:prstGeom prst="ellipse">
            <a:avLst/>
          </a:prstGeom>
          <a:solidFill>
            <a:srgbClr val="BF5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0" y="3822191"/>
            <a:ext cx="2880360" cy="658368"/>
          </a:xfrm>
          <a:prstGeom prst="rect">
            <a:avLst/>
          </a:prstGeom>
          <a:noFill/>
        </p:spPr>
        <p:txBody>
          <a:bodyPr wrap="square" anchor="t" lIns="0" rIns="0" tIns="0" bIns="0">
            <a:spAutoFit/>
          </a:bodyPr>
          <a:lstStyle/>
          <a:p>
            <a:pPr algn="l"/>
            <a:r>
              <a:rPr sz="1500" b="0" i="0">
                <a:solidFill>
                  <a:srgbClr val="172033"/>
                </a:solidFill>
                <a:latin typeface="Calibri"/>
              </a:rPr>
              <a:t>Script Mix is not language identification</a:t>
            </a:r>
          </a:p>
        </p:txBody>
      </p:sp>
      <p:sp>
        <p:nvSpPr>
          <p:cNvPr id="36" name="Oval 35"/>
          <p:cNvSpPr/>
          <p:nvPr/>
        </p:nvSpPr>
        <p:spPr>
          <a:xfrm>
            <a:off x="8394192" y="4636008"/>
            <a:ext cx="137160" cy="137160"/>
          </a:xfrm>
          <a:prstGeom prst="ellipse">
            <a:avLst/>
          </a:prstGeom>
          <a:solidFill>
            <a:srgbClr val="BF5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0" y="4553712"/>
            <a:ext cx="2880360" cy="658368"/>
          </a:xfrm>
          <a:prstGeom prst="rect">
            <a:avLst/>
          </a:prstGeom>
          <a:noFill/>
        </p:spPr>
        <p:txBody>
          <a:bodyPr wrap="square" anchor="t" lIns="0" rIns="0" tIns="0" bIns="0">
            <a:spAutoFit/>
          </a:bodyPr>
          <a:lstStyle/>
          <a:p>
            <a:pPr algn="l"/>
            <a:r>
              <a:rPr sz="1500" b="0" i="0">
                <a:solidFill>
                  <a:srgbClr val="172033"/>
                </a:solidFill>
                <a:latin typeface="Calibri"/>
              </a:rPr>
              <a:t>Privacy filter is not complete PII detection</a:t>
            </a:r>
          </a:p>
        </p:txBody>
      </p:sp>
      <p:sp>
        <p:nvSpPr>
          <p:cNvPr id="38" name="Oval 37"/>
          <p:cNvSpPr/>
          <p:nvPr/>
        </p:nvSpPr>
        <p:spPr>
          <a:xfrm>
            <a:off x="8394192" y="5367528"/>
            <a:ext cx="137160" cy="137160"/>
          </a:xfrm>
          <a:prstGeom prst="ellipse">
            <a:avLst/>
          </a:prstGeom>
          <a:solidFill>
            <a:srgbClr val="BF5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0" y="5285232"/>
            <a:ext cx="2880360" cy="658368"/>
          </a:xfrm>
          <a:prstGeom prst="rect">
            <a:avLst/>
          </a:prstGeom>
          <a:noFill/>
        </p:spPr>
        <p:txBody>
          <a:bodyPr wrap="square" anchor="t" lIns="0" rIns="0" tIns="0" bIns="0">
            <a:spAutoFit/>
          </a:bodyPr>
          <a:lstStyle/>
          <a:p>
            <a:pPr algn="l"/>
            <a:r>
              <a:rPr sz="1500" b="0" i="0">
                <a:solidFill>
                  <a:srgbClr val="172033"/>
                </a:solidFill>
                <a:latin typeface="Calibri"/>
              </a:rPr>
              <a:t>Public results are not population-level findings</a:t>
            </a:r>
          </a:p>
        </p:txBody>
      </p:sp>
      <p:sp>
        <p:nvSpPr>
          <p:cNvPr id="40" name="TextBox 39"/>
          <p:cNvSpPr txBox="1"/>
          <p:nvPr/>
        </p:nvSpPr>
        <p:spPr>
          <a:xfrm>
            <a:off x="548640" y="6446520"/>
            <a:ext cx="8229600" cy="228600"/>
          </a:xfrm>
          <a:prstGeom prst="rect">
            <a:avLst/>
          </a:prstGeom>
          <a:noFill/>
        </p:spPr>
        <p:txBody>
          <a:bodyPr wrap="square" anchor="t" lIns="0" rIns="0" tIns="0" bIns="0">
            <a:spAutoFit/>
          </a:bodyPr>
          <a:lstStyle/>
          <a:p>
            <a:pPr algn="l"/>
            <a:r>
              <a:rPr sz="1100" b="0" i="0">
                <a:solidFill>
                  <a:srgbClr val="525D70"/>
                </a:solidFill>
                <a:latin typeface="Calibri"/>
              </a:rPr>
              <a:t>WhatsApp NLP &amp; Conversation Analytics Dashboard  |  MSc Data Science  |  Abhishek Vanahalli</a:t>
            </a:r>
          </a:p>
        </p:txBody>
      </p:sp>
      <p:sp>
        <p:nvSpPr>
          <p:cNvPr id="41" name="TextBox 40"/>
          <p:cNvSpPr txBox="1"/>
          <p:nvPr/>
        </p:nvSpPr>
        <p:spPr>
          <a:xfrm>
            <a:off x="10972800" y="6446520"/>
            <a:ext cx="685800" cy="228600"/>
          </a:xfrm>
          <a:prstGeom prst="rect">
            <a:avLst/>
          </a:prstGeom>
          <a:noFill/>
        </p:spPr>
        <p:txBody>
          <a:bodyPr wrap="square" anchor="t" lIns="0" rIns="0" tIns="0" bIns="0">
            <a:spAutoFit/>
          </a:bodyPr>
          <a:lstStyle/>
          <a:p>
            <a:pPr algn="r"/>
            <a:r>
              <a:rPr sz="1100" b="0" i="0">
                <a:solidFill>
                  <a:srgbClr val="525D7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DF1F7"/>
        </a:solidFill>
        <a:effectLst/>
      </p:bgPr>
    </p:bg>
    <p:spTree>
      <p:nvGrpSpPr>
        <p:cNvPr id="1" name=""/>
        <p:cNvGrpSpPr/>
        <p:nvPr/>
      </p:nvGrpSpPr>
      <p:grpSpPr/>
      <p:sp>
        <p:nvSpPr>
          <p:cNvPr id="2" name="TextBox 1"/>
          <p:cNvSpPr txBox="1"/>
          <p:nvPr/>
        </p:nvSpPr>
        <p:spPr>
          <a:xfrm>
            <a:off x="548640" y="384048"/>
            <a:ext cx="9601200" cy="640080"/>
          </a:xfrm>
          <a:prstGeom prst="rect">
            <a:avLst/>
          </a:prstGeom>
          <a:noFill/>
        </p:spPr>
        <p:txBody>
          <a:bodyPr wrap="square" anchor="t" lIns="0" rIns="0" tIns="0" bIns="0">
            <a:spAutoFit/>
          </a:bodyPr>
          <a:lstStyle/>
          <a:p>
            <a:pPr algn="l"/>
            <a:r>
              <a:rPr sz="3600" b="1" i="0">
                <a:solidFill>
                  <a:srgbClr val="172033"/>
                </a:solidFill>
                <a:latin typeface="Calibri"/>
              </a:rPr>
              <a:t>Conclusion &amp; Future Work</a:t>
            </a:r>
          </a:p>
        </p:txBody>
      </p:sp>
      <p:sp>
        <p:nvSpPr>
          <p:cNvPr id="3" name="Rounded Rectangle 2"/>
          <p:cNvSpPr/>
          <p:nvPr/>
        </p:nvSpPr>
        <p:spPr>
          <a:xfrm>
            <a:off x="548640" y="1280160"/>
            <a:ext cx="5577840" cy="384048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5029200" cy="320040"/>
          </a:xfrm>
          <a:prstGeom prst="rect">
            <a:avLst/>
          </a:prstGeom>
          <a:noFill/>
        </p:spPr>
        <p:txBody>
          <a:bodyPr wrap="square" anchor="t" lIns="0" rIns="0" tIns="0" bIns="0">
            <a:spAutoFit/>
          </a:bodyPr>
          <a:lstStyle/>
          <a:p>
            <a:pPr algn="l"/>
            <a:r>
              <a:rPr sz="1300" b="1" i="0">
                <a:solidFill>
                  <a:srgbClr val="1E5AE0"/>
                </a:solidFill>
                <a:latin typeface="Calibri"/>
              </a:rPr>
              <a:t>CONCLUSION</a:t>
            </a:r>
          </a:p>
        </p:txBody>
      </p:sp>
      <p:sp>
        <p:nvSpPr>
          <p:cNvPr id="5" name="TextBox 4"/>
          <p:cNvSpPr txBox="1"/>
          <p:nvPr/>
        </p:nvSpPr>
        <p:spPr>
          <a:xfrm>
            <a:off x="822960" y="1828800"/>
            <a:ext cx="5029200" cy="914400"/>
          </a:xfrm>
          <a:prstGeom prst="rect">
            <a:avLst/>
          </a:prstGeom>
          <a:noFill/>
        </p:spPr>
        <p:txBody>
          <a:bodyPr wrap="square" anchor="t" lIns="0" rIns="0" tIns="0" bIns="0">
            <a:spAutoFit/>
          </a:bodyPr>
          <a:lstStyle/>
          <a:p>
            <a:pPr algn="l"/>
            <a:r>
              <a:rPr sz="1700" b="1" i="0">
                <a:solidFill>
                  <a:srgbClr val="172033"/>
                </a:solidFill>
                <a:latin typeface="Calibri"/>
              </a:rPr>
              <a:t>A reproducible pipeline for analysing WhatsApp-style exported conversations, with its limits stated.</a:t>
            </a:r>
          </a:p>
        </p:txBody>
      </p:sp>
      <p:sp>
        <p:nvSpPr>
          <p:cNvPr id="6" name="Oval 5"/>
          <p:cNvSpPr/>
          <p:nvPr/>
        </p:nvSpPr>
        <p:spPr>
          <a:xfrm>
            <a:off x="868680" y="2871215"/>
            <a:ext cx="137160" cy="137160"/>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2788920"/>
            <a:ext cx="4754880" cy="411480"/>
          </a:xfrm>
          <a:prstGeom prst="rect">
            <a:avLst/>
          </a:prstGeom>
          <a:noFill/>
        </p:spPr>
        <p:txBody>
          <a:bodyPr wrap="square" anchor="t" lIns="0" rIns="0" tIns="0" bIns="0">
            <a:spAutoFit/>
          </a:bodyPr>
          <a:lstStyle/>
          <a:p>
            <a:pPr algn="l"/>
            <a:r>
              <a:rPr sz="1500" b="0" i="0">
                <a:solidFill>
                  <a:srgbClr val="172033"/>
                </a:solidFill>
                <a:latin typeface="Calibri"/>
              </a:rPr>
              <a:t>Preprocessing, n-grams and TF-IDF</a:t>
            </a:r>
          </a:p>
        </p:txBody>
      </p:sp>
      <p:sp>
        <p:nvSpPr>
          <p:cNvPr id="8" name="Oval 7"/>
          <p:cNvSpPr/>
          <p:nvPr/>
        </p:nvSpPr>
        <p:spPr>
          <a:xfrm>
            <a:off x="868680" y="3346703"/>
            <a:ext cx="137160" cy="137160"/>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3264408"/>
            <a:ext cx="4754880" cy="411480"/>
          </a:xfrm>
          <a:prstGeom prst="rect">
            <a:avLst/>
          </a:prstGeom>
          <a:noFill/>
        </p:spPr>
        <p:txBody>
          <a:bodyPr wrap="square" anchor="t" lIns="0" rIns="0" tIns="0" bIns="0">
            <a:spAutoFit/>
          </a:bodyPr>
          <a:lstStyle/>
          <a:p>
            <a:pPr algn="l"/>
            <a:r>
              <a:rPr sz="1500" b="0" i="0">
                <a:solidFill>
                  <a:srgbClr val="172033"/>
                </a:solidFill>
                <a:latin typeface="Calibri"/>
              </a:rPr>
              <a:t>Script Mix and Key Terms</a:t>
            </a:r>
          </a:p>
        </p:txBody>
      </p:sp>
      <p:sp>
        <p:nvSpPr>
          <p:cNvPr id="10" name="Oval 9"/>
          <p:cNvSpPr/>
          <p:nvPr/>
        </p:nvSpPr>
        <p:spPr>
          <a:xfrm>
            <a:off x="868680" y="3822191"/>
            <a:ext cx="137160" cy="137160"/>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3739896"/>
            <a:ext cx="4754880" cy="411480"/>
          </a:xfrm>
          <a:prstGeom prst="rect">
            <a:avLst/>
          </a:prstGeom>
          <a:noFill/>
        </p:spPr>
        <p:txBody>
          <a:bodyPr wrap="square" anchor="t" lIns="0" rIns="0" tIns="0" bIns="0">
            <a:spAutoFit/>
          </a:bodyPr>
          <a:lstStyle/>
          <a:p>
            <a:pPr algn="l"/>
            <a:r>
              <a:rPr sz="1500" b="0" i="0">
                <a:solidFill>
                  <a:srgbClr val="172033"/>
                </a:solidFill>
                <a:latin typeface="Calibri"/>
              </a:rPr>
              <a:t>Conversation analytics and an interactive dashboard</a:t>
            </a:r>
          </a:p>
        </p:txBody>
      </p:sp>
      <p:sp>
        <p:nvSpPr>
          <p:cNvPr id="12" name="Oval 11"/>
          <p:cNvSpPr/>
          <p:nvPr/>
        </p:nvSpPr>
        <p:spPr>
          <a:xfrm>
            <a:off x="868680" y="4297679"/>
            <a:ext cx="137160" cy="137160"/>
          </a:xfrm>
          <a:prstGeom prst="ellipse">
            <a:avLst/>
          </a:prstGeom>
          <a:solidFill>
            <a:srgbClr val="087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0432" y="4215383"/>
            <a:ext cx="4754880" cy="411480"/>
          </a:xfrm>
          <a:prstGeom prst="rect">
            <a:avLst/>
          </a:prstGeom>
          <a:noFill/>
        </p:spPr>
        <p:txBody>
          <a:bodyPr wrap="square" anchor="t" lIns="0" rIns="0" tIns="0" bIns="0">
            <a:spAutoFit/>
          </a:bodyPr>
          <a:lstStyle/>
          <a:p>
            <a:pPr algn="l"/>
            <a:r>
              <a:rPr sz="1500" b="0" i="0">
                <a:solidFill>
                  <a:srgbClr val="172033"/>
                </a:solidFill>
                <a:latin typeface="Calibri"/>
              </a:rPr>
              <a:t>Validation shows reproducibility and robustness</a:t>
            </a:r>
          </a:p>
        </p:txBody>
      </p:sp>
      <p:sp>
        <p:nvSpPr>
          <p:cNvPr id="14" name="Oval 13"/>
          <p:cNvSpPr/>
          <p:nvPr/>
        </p:nvSpPr>
        <p:spPr>
          <a:xfrm>
            <a:off x="868680" y="4773168"/>
            <a:ext cx="137160" cy="137160"/>
          </a:xfrm>
          <a:prstGeom prst="ellipse">
            <a:avLst/>
          </a:prstGeom>
          <a:solidFill>
            <a:srgbClr val="1E5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 y="4690872"/>
            <a:ext cx="4754880" cy="411480"/>
          </a:xfrm>
          <a:prstGeom prst="rect">
            <a:avLst/>
          </a:prstGeom>
          <a:noFill/>
        </p:spPr>
        <p:txBody>
          <a:bodyPr wrap="square" anchor="t" lIns="0" rIns="0" tIns="0" bIns="0">
            <a:spAutoFit/>
          </a:bodyPr>
          <a:lstStyle/>
          <a:p>
            <a:pPr algn="l"/>
            <a:r>
              <a:rPr sz="1500" b="0" i="0">
                <a:solidFill>
                  <a:srgbClr val="172033"/>
                </a:solidFill>
                <a:latin typeface="Calibri"/>
              </a:rPr>
              <a:t>A fictional public dataset enables safe demonstration</a:t>
            </a:r>
          </a:p>
        </p:txBody>
      </p:sp>
      <p:sp>
        <p:nvSpPr>
          <p:cNvPr id="16" name="Rounded Rectangle 15"/>
          <p:cNvSpPr/>
          <p:nvPr/>
        </p:nvSpPr>
        <p:spPr>
          <a:xfrm>
            <a:off x="6355080" y="1280160"/>
            <a:ext cx="5285232" cy="3840480"/>
          </a:xfrm>
          <a:prstGeom prst="roundRect">
            <a:avLst>
              <a:gd name="adj" fmla="val 4000"/>
            </a:avLst>
          </a:prstGeom>
          <a:solidFill>
            <a:srgbClr val="FFFFFF"/>
          </a:solidFill>
          <a:ln w="9525">
            <a:solidFill>
              <a:srgbClr val="CDD6E4"/>
            </a:solid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1463040"/>
            <a:ext cx="4754880" cy="320040"/>
          </a:xfrm>
          <a:prstGeom prst="rect">
            <a:avLst/>
          </a:prstGeom>
          <a:noFill/>
        </p:spPr>
        <p:txBody>
          <a:bodyPr wrap="square" anchor="t" lIns="0" rIns="0" tIns="0" bIns="0">
            <a:spAutoFit/>
          </a:bodyPr>
          <a:lstStyle/>
          <a:p>
            <a:pPr algn="l"/>
            <a:r>
              <a:rPr sz="1300" b="1" i="0">
                <a:solidFill>
                  <a:srgbClr val="6240C8"/>
                </a:solidFill>
                <a:latin typeface="Calibri"/>
              </a:rPr>
              <a:t>FUTURE WORK</a:t>
            </a:r>
          </a:p>
        </p:txBody>
      </p:sp>
      <p:sp>
        <p:nvSpPr>
          <p:cNvPr id="18" name="Oval 17"/>
          <p:cNvSpPr/>
          <p:nvPr/>
        </p:nvSpPr>
        <p:spPr>
          <a:xfrm>
            <a:off x="6629400" y="2011680"/>
            <a:ext cx="347472" cy="347472"/>
          </a:xfrm>
          <a:prstGeom prst="ellipse">
            <a:avLst/>
          </a:prstGeom>
          <a:solidFill>
            <a:srgbClr val="6240C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19" name="TextBox 18"/>
          <p:cNvSpPr txBox="1"/>
          <p:nvPr/>
        </p:nvSpPr>
        <p:spPr>
          <a:xfrm>
            <a:off x="7132320" y="1975104"/>
            <a:ext cx="4297680" cy="457200"/>
          </a:xfrm>
          <a:prstGeom prst="rect">
            <a:avLst/>
          </a:prstGeom>
          <a:noFill/>
        </p:spPr>
        <p:txBody>
          <a:bodyPr wrap="square" anchor="ctr" lIns="0" rIns="0" tIns="0" bIns="0">
            <a:spAutoFit/>
          </a:bodyPr>
          <a:lstStyle/>
          <a:p>
            <a:pPr algn="l"/>
            <a:r>
              <a:rPr sz="1500" b="0" i="0">
                <a:solidFill>
                  <a:srgbClr val="172033"/>
                </a:solidFill>
                <a:latin typeface="Calibri"/>
              </a:rPr>
              <a:t>Broader WhatsApp export-format support</a:t>
            </a:r>
          </a:p>
        </p:txBody>
      </p:sp>
      <p:sp>
        <p:nvSpPr>
          <p:cNvPr id="20" name="Oval 19"/>
          <p:cNvSpPr/>
          <p:nvPr/>
        </p:nvSpPr>
        <p:spPr>
          <a:xfrm>
            <a:off x="6629400" y="2606040"/>
            <a:ext cx="347472" cy="347472"/>
          </a:xfrm>
          <a:prstGeom prst="ellipse">
            <a:avLst/>
          </a:prstGeom>
          <a:solidFill>
            <a:srgbClr val="6240C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21" name="TextBox 20"/>
          <p:cNvSpPr txBox="1"/>
          <p:nvPr/>
        </p:nvSpPr>
        <p:spPr>
          <a:xfrm>
            <a:off x="7132320" y="2569464"/>
            <a:ext cx="4297680" cy="457200"/>
          </a:xfrm>
          <a:prstGeom prst="rect">
            <a:avLst/>
          </a:prstGeom>
          <a:noFill/>
        </p:spPr>
        <p:txBody>
          <a:bodyPr wrap="square" anchor="ctr" lIns="0" rIns="0" tIns="0" bIns="0">
            <a:spAutoFit/>
          </a:bodyPr>
          <a:lstStyle/>
          <a:p>
            <a:pPr algn="l"/>
            <a:r>
              <a:rPr sz="1500" b="0" i="0">
                <a:solidFill>
                  <a:srgbClr val="172033"/>
                </a:solidFill>
                <a:latin typeface="Calibri"/>
              </a:rPr>
              <a:t>Larger, real-world evaluation (group and iOS exports)</a:t>
            </a:r>
          </a:p>
        </p:txBody>
      </p:sp>
      <p:sp>
        <p:nvSpPr>
          <p:cNvPr id="22" name="Oval 21"/>
          <p:cNvSpPr/>
          <p:nvPr/>
        </p:nvSpPr>
        <p:spPr>
          <a:xfrm>
            <a:off x="6629400" y="3200400"/>
            <a:ext cx="347472" cy="347472"/>
          </a:xfrm>
          <a:prstGeom prst="ellipse">
            <a:avLst/>
          </a:prstGeom>
          <a:solidFill>
            <a:srgbClr val="6240C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23" name="TextBox 22"/>
          <p:cNvSpPr txBox="1"/>
          <p:nvPr/>
        </p:nvSpPr>
        <p:spPr>
          <a:xfrm>
            <a:off x="7132320" y="3163824"/>
            <a:ext cx="4297680" cy="457200"/>
          </a:xfrm>
          <a:prstGeom prst="rect">
            <a:avLst/>
          </a:prstGeom>
          <a:noFill/>
        </p:spPr>
        <p:txBody>
          <a:bodyPr wrap="square" anchor="ctr" lIns="0" rIns="0" tIns="0" bIns="0">
            <a:spAutoFit/>
          </a:bodyPr>
          <a:lstStyle/>
          <a:p>
            <a:pPr algn="l"/>
            <a:r>
              <a:rPr sz="1500" b="0" i="0">
                <a:solidFill>
                  <a:srgbClr val="172033"/>
                </a:solidFill>
                <a:latin typeface="Calibri"/>
              </a:rPr>
              <a:t>Richer multilingual analysis and stopword handling</a:t>
            </a:r>
          </a:p>
        </p:txBody>
      </p:sp>
      <p:sp>
        <p:nvSpPr>
          <p:cNvPr id="24" name="Oval 23"/>
          <p:cNvSpPr/>
          <p:nvPr/>
        </p:nvSpPr>
        <p:spPr>
          <a:xfrm>
            <a:off x="6629400" y="3794760"/>
            <a:ext cx="347472" cy="347472"/>
          </a:xfrm>
          <a:prstGeom prst="ellipse">
            <a:avLst/>
          </a:prstGeom>
          <a:solidFill>
            <a:srgbClr val="6240C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5" name="TextBox 24"/>
          <p:cNvSpPr txBox="1"/>
          <p:nvPr/>
        </p:nvSpPr>
        <p:spPr>
          <a:xfrm>
            <a:off x="7132320" y="3758184"/>
            <a:ext cx="4297680" cy="457200"/>
          </a:xfrm>
          <a:prstGeom prst="rect">
            <a:avLst/>
          </a:prstGeom>
          <a:noFill/>
        </p:spPr>
        <p:txBody>
          <a:bodyPr wrap="square" anchor="ctr" lIns="0" rIns="0" tIns="0" bIns="0">
            <a:spAutoFit/>
          </a:bodyPr>
          <a:lstStyle/>
          <a:p>
            <a:pPr algn="l"/>
            <a:r>
              <a:rPr sz="1500" b="0" i="0">
                <a:solidFill>
                  <a:srgbClr val="172033"/>
                </a:solidFill>
                <a:latin typeface="Calibri"/>
              </a:rPr>
              <a:t>Stronger personal-data detection</a:t>
            </a:r>
          </a:p>
        </p:txBody>
      </p:sp>
      <p:sp>
        <p:nvSpPr>
          <p:cNvPr id="26" name="Oval 25"/>
          <p:cNvSpPr/>
          <p:nvPr/>
        </p:nvSpPr>
        <p:spPr>
          <a:xfrm>
            <a:off x="6629400" y="4389120"/>
            <a:ext cx="347472" cy="347472"/>
          </a:xfrm>
          <a:prstGeom prst="ellipse">
            <a:avLst/>
          </a:prstGeom>
          <a:solidFill>
            <a:srgbClr val="6240C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7" name="TextBox 26"/>
          <p:cNvSpPr txBox="1"/>
          <p:nvPr/>
        </p:nvSpPr>
        <p:spPr>
          <a:xfrm>
            <a:off x="7132320" y="4352544"/>
            <a:ext cx="4297680" cy="457200"/>
          </a:xfrm>
          <a:prstGeom prst="rect">
            <a:avLst/>
          </a:prstGeom>
          <a:noFill/>
        </p:spPr>
        <p:txBody>
          <a:bodyPr wrap="square" anchor="ctr" lIns="0" rIns="0" tIns="0" bIns="0">
            <a:spAutoFit/>
          </a:bodyPr>
          <a:lstStyle/>
          <a:p>
            <a:pPr algn="l"/>
            <a:r>
              <a:rPr sz="1500" b="0" i="0">
                <a:solidFill>
                  <a:srgbClr val="172033"/>
                </a:solidFill>
                <a:latin typeface="Calibri"/>
              </a:rPr>
              <a:t>More robust large-scale TF-IDF evaluation</a:t>
            </a:r>
          </a:p>
        </p:txBody>
      </p:sp>
      <p:sp>
        <p:nvSpPr>
          <p:cNvPr id="28" name="Rounded Rectangle 27"/>
          <p:cNvSpPr/>
          <p:nvPr/>
        </p:nvSpPr>
        <p:spPr>
          <a:xfrm>
            <a:off x="548640" y="5349240"/>
            <a:ext cx="11091672" cy="868680"/>
          </a:xfrm>
          <a:prstGeom prst="roundRect">
            <a:avLst>
              <a:gd name="adj" fmla="val 12000"/>
            </a:avLst>
          </a:prstGeom>
          <a:solidFill>
            <a:srgbClr val="1E5AE0"/>
          </a:solidFill>
          <a:ln>
            <a:noFill/>
          </a:ln>
          <a:effectLst>
            <a:outerShdw blurRad="76200" dist="25400" dir="5400000" algn="t" rotWithShape="0">
              <a:srgbClr val="101828">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349240"/>
            <a:ext cx="5486400" cy="868680"/>
          </a:xfrm>
          <a:prstGeom prst="rect">
            <a:avLst/>
          </a:prstGeom>
          <a:noFill/>
        </p:spPr>
        <p:txBody>
          <a:bodyPr wrap="square" anchor="ctr" lIns="0" rIns="0" tIns="0" bIns="0">
            <a:spAutoFit/>
          </a:bodyPr>
          <a:lstStyle/>
          <a:p>
            <a:pPr algn="l"/>
            <a:r>
              <a:rPr sz="3000" b="1" i="0">
                <a:solidFill>
                  <a:srgbClr val="FFFFFF"/>
                </a:solidFill>
                <a:latin typeface="Calibri"/>
              </a:rPr>
              <a:t>Thank you</a:t>
            </a:r>
          </a:p>
        </p:txBody>
      </p:sp>
      <p:sp>
        <p:nvSpPr>
          <p:cNvPr id="30" name="TextBox 29"/>
          <p:cNvSpPr txBox="1"/>
          <p:nvPr/>
        </p:nvSpPr>
        <p:spPr>
          <a:xfrm>
            <a:off x="6400800" y="5349240"/>
            <a:ext cx="5029200" cy="868680"/>
          </a:xfrm>
          <a:prstGeom prst="rect">
            <a:avLst/>
          </a:prstGeom>
          <a:noFill/>
        </p:spPr>
        <p:txBody>
          <a:bodyPr wrap="square" anchor="ctr" lIns="0" rIns="0" tIns="0" bIns="0">
            <a:spAutoFit/>
          </a:bodyPr>
          <a:lstStyle/>
          <a:p>
            <a:pPr algn="r"/>
            <a:r>
              <a:rPr sz="3000" b="1" i="0">
                <a:solidFill>
                  <a:srgbClr val="FFFFFF"/>
                </a:solidFill>
                <a:latin typeface="Calibri"/>
              </a:rPr>
              <a:t>Questions?</a:t>
            </a:r>
          </a:p>
        </p:txBody>
      </p:sp>
      <p:sp>
        <p:nvSpPr>
          <p:cNvPr id="31" name="TextBox 30"/>
          <p:cNvSpPr txBox="1"/>
          <p:nvPr/>
        </p:nvSpPr>
        <p:spPr>
          <a:xfrm>
            <a:off x="548640" y="6446520"/>
            <a:ext cx="8229600" cy="228600"/>
          </a:xfrm>
          <a:prstGeom prst="rect">
            <a:avLst/>
          </a:prstGeom>
          <a:noFill/>
        </p:spPr>
        <p:txBody>
          <a:bodyPr wrap="square" anchor="t" lIns="0" rIns="0" tIns="0" bIns="0">
            <a:spAutoFit/>
          </a:bodyPr>
          <a:lstStyle/>
          <a:p>
            <a:pPr algn="l"/>
            <a:r>
              <a:rPr sz="1100" b="0" i="0">
                <a:solidFill>
                  <a:srgbClr val="525D70"/>
                </a:solidFill>
                <a:latin typeface="Calibri"/>
              </a:rPr>
              <a:t>WhatsApp NLP &amp; Conversation Analytics Dashboard  |  MSc Data Science  |  Abhishek Vanahalli</a:t>
            </a:r>
          </a:p>
        </p:txBody>
      </p:sp>
      <p:sp>
        <p:nvSpPr>
          <p:cNvPr id="32" name="TextBox 31"/>
          <p:cNvSpPr txBox="1"/>
          <p:nvPr/>
        </p:nvSpPr>
        <p:spPr>
          <a:xfrm>
            <a:off x="10972800" y="6446520"/>
            <a:ext cx="685800" cy="228600"/>
          </a:xfrm>
          <a:prstGeom prst="rect">
            <a:avLst/>
          </a:prstGeom>
          <a:noFill/>
        </p:spPr>
        <p:txBody>
          <a:bodyPr wrap="square" anchor="t" lIns="0" rIns="0" tIns="0" bIns="0">
            <a:spAutoFit/>
          </a:bodyPr>
          <a:lstStyle/>
          <a:p>
            <a:pPr algn="r"/>
            <a:r>
              <a:rPr sz="1100" b="0" i="0">
                <a:solidFill>
                  <a:srgbClr val="525D70"/>
                </a:solidFill>
                <a:latin typeface="Calibri"/>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WhatsApp NLP &amp; Conversation Analytics Dashboard</dc:title>
  <dc:subject/>
  <dc:creator>Abhishek Vanahalli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